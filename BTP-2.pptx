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7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93657-85AA-8D52-F5D2-83340D68FDA7}" v="231" dt="2025-05-04T15:18:27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9FA0CC4-14A8-46E8-B502-17ACF87253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9160CEB-53CF-4B6E-B74A-144867E1270B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529DCF0-A06A-4147-B5C1-9AF8BC7EFCB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9A90E61-ED5C-4D25-B175-E54D1A55CC2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AA3588-DBE8-4790-8417-98EA558697A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9E4EA8-C36C-4D0A-9E39-355BB61355E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515FE39-E45F-4B98-9A64-1737261AE3F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098CB7-403A-4D09-A4BF-5ECC82B9FBC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258A7DA-2B3A-4100-BE40-905E018A23B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676211-E9D5-47CE-A679-985744C533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800F0B-F3A4-4F24-A837-39CD117EA33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AB82638-9373-423C-81A2-ADCA688083E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C5A1BD4-5CC2-4778-BA2B-1A81C2337C7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FB6BC93-B54B-405F-BF31-76133908200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F2E9BFB-5729-46F2-8154-2F2DDF1149E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395F0A7-E862-4E8A-B0E5-A0A16BD62B6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65ECBE-F6E2-4129-A0CB-B8A6ECF76EC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5C9FE0-A14C-4F30-BA14-CE48C692516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EE3544-2834-45E4-A1AC-ADA3E6F93F2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FBEBE14-C23B-4A67-9576-70ED65EB5ED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F9494B-9637-4912-9AD3-2D6B59C2E86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211F5EB-7A0B-4A8B-8170-15EBB7F89DE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C916AFD-2586-467C-B43D-C190B37E25C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D8BAE51-2E31-4E02-A0C4-AC6330ED802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AD0D1CF-7B08-4BF8-86AD-8FE9F5A6EB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7BEB617-F79A-4951-88E9-B74F2084B39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5D99F96-AD8B-45D4-B97A-F99BB1E7587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DFCFED7-A75F-4E8E-80F2-8E4C3924329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4135FF9-C015-41F7-8E71-463B1D63560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C948246-A506-491A-B518-821ABC70340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E9F4D9-987B-4AE7-A310-28FF6B21AEE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B54E06C-EC7B-4CF7-B51D-F8D381E22E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AF3C789-E189-4ACA-804E-952C309A8E1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066FDAE-5D91-4B34-98C5-23203C50D7A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1950CF9-53B3-4605-A70B-51767AF1262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1800" b="0" strike="noStrike" spc="-1"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AC9F9E8-24DE-4F5B-BCCE-D32F5E0DC06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object 16"/>
          <p:cNvPicPr/>
          <p:nvPr/>
        </p:nvPicPr>
        <p:blipFill>
          <a:blip r:embed="rId14"/>
          <a:stretch/>
        </p:blipFill>
        <p:spPr>
          <a:xfrm>
            <a:off x="0" y="0"/>
            <a:ext cx="12191760" cy="14407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393040" cy="61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40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64640" y="2096640"/>
            <a:ext cx="10647360" cy="26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7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7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7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7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7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7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700" b="0" strike="noStrike" spc="-1">
                <a:latin typeface="Calibri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&lt;date/time&gt;</a:t>
            </a:r>
            <a:endParaRPr lang="en-IN" sz="1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IN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0F0BE0-CD47-4729-BB41-E89752354D4B}" type="slidenum">
              <a:rPr lang="en-IN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g object 16"/>
          <p:cNvPicPr/>
          <p:nvPr/>
        </p:nvPicPr>
        <p:blipFill>
          <a:blip r:embed="rId14"/>
          <a:stretch/>
        </p:blipFill>
        <p:spPr>
          <a:xfrm>
            <a:off x="0" y="0"/>
            <a:ext cx="12191760" cy="14407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393040" cy="61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40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&lt;date/time&gt;</a:t>
            </a:r>
            <a:endParaRPr lang="en-IN" sz="1400" b="0" strike="noStrike" spc="-1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IN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F2293D-239A-4EFB-9927-BD3CEA9E104F}" type="slidenum">
              <a:rPr lang="en-IN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bg object 16"/>
          <p:cNvPicPr/>
          <p:nvPr/>
        </p:nvPicPr>
        <p:blipFill>
          <a:blip r:embed="rId14"/>
          <a:stretch/>
        </p:blipFill>
        <p:spPr>
          <a:xfrm>
            <a:off x="0" y="0"/>
            <a:ext cx="12191760" cy="14407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&lt;date/time&gt;</a:t>
            </a:r>
            <a:endParaRPr lang="en-IN" sz="1400" b="0" strike="noStrike" spc="-1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IN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D6262B-9323-4827-9F83-25282D2BD4D2}" type="slidenum">
              <a:rPr lang="en-IN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object 2"/>
          <p:cNvPicPr/>
          <p:nvPr/>
        </p:nvPicPr>
        <p:blipFill>
          <a:blip r:embed="rId2"/>
          <a:stretch/>
        </p:blipFill>
        <p:spPr>
          <a:xfrm>
            <a:off x="0" y="4375440"/>
            <a:ext cx="12191760" cy="248220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359000" y="1809000"/>
            <a:ext cx="9254160" cy="18172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algn="ctr">
              <a:lnSpc>
                <a:spcPts val="4799"/>
              </a:lnSpc>
              <a:spcBef>
                <a:spcPts val="99"/>
              </a:spcBef>
              <a:buNone/>
            </a:pPr>
            <a:r>
              <a:rPr lang="en-IN" sz="3600" b="1" strike="noStrike" spc="-1">
                <a:solidFill>
                  <a:srgbClr val="000000"/>
                </a:solidFill>
                <a:latin typeface="Century Gothic"/>
              </a:rPr>
              <a:t>BTECH</a:t>
            </a:r>
            <a:r>
              <a:rPr lang="en-IN" sz="3600" b="1" strike="noStrike" spc="-7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3600" b="1" strike="noStrike" spc="-1">
                <a:solidFill>
                  <a:srgbClr val="000000"/>
                </a:solidFill>
                <a:latin typeface="Century Gothic"/>
              </a:rPr>
              <a:t>PROJECT</a:t>
            </a:r>
            <a:r>
              <a:rPr lang="en-IN" sz="3600" b="1" strike="noStrike" spc="-92">
                <a:solidFill>
                  <a:srgbClr val="000000"/>
                </a:solidFill>
                <a:latin typeface="Century Gothic"/>
              </a:rPr>
              <a:t> </a:t>
            </a:r>
            <a:endParaRPr lang="en-IN" sz="3600" b="0" strike="noStrike" spc="-1">
              <a:latin typeface="Calibri"/>
            </a:endParaRPr>
          </a:p>
          <a:p>
            <a:pPr marL="12600" algn="ctr">
              <a:lnSpc>
                <a:spcPts val="4541"/>
              </a:lnSpc>
              <a:spcBef>
                <a:spcPts val="326"/>
              </a:spcBef>
              <a:buNone/>
            </a:pPr>
            <a:r>
              <a:rPr lang="en-IN" sz="4200" b="1" strike="noStrike" spc="-1">
                <a:solidFill>
                  <a:srgbClr val="77933C"/>
                </a:solidFill>
                <a:latin typeface="Century Gothic"/>
              </a:rPr>
              <a:t>GEOMETRY</a:t>
            </a:r>
            <a:r>
              <a:rPr lang="en-IN" sz="4200" b="1" strike="noStrike" spc="-231">
                <a:solidFill>
                  <a:srgbClr val="77933C"/>
                </a:solidFill>
                <a:latin typeface="Century Gothic"/>
              </a:rPr>
              <a:t> </a:t>
            </a:r>
            <a:r>
              <a:rPr lang="en-IN" sz="4200" b="1" strike="noStrike" spc="-1">
                <a:solidFill>
                  <a:srgbClr val="77933C"/>
                </a:solidFill>
                <a:latin typeface="Century Gothic"/>
              </a:rPr>
              <a:t>OPTIMIZATION</a:t>
            </a:r>
            <a:r>
              <a:rPr lang="en-IN" sz="4200" b="1" strike="noStrike" spc="-222">
                <a:solidFill>
                  <a:srgbClr val="77933C"/>
                </a:solidFill>
                <a:latin typeface="Century Gothic"/>
              </a:rPr>
              <a:t> </a:t>
            </a:r>
            <a:r>
              <a:rPr lang="en-IN" sz="4200" b="1" strike="noStrike" spc="-1">
                <a:solidFill>
                  <a:srgbClr val="77933C"/>
                </a:solidFill>
                <a:latin typeface="Century Gothic"/>
              </a:rPr>
              <a:t>USING</a:t>
            </a:r>
            <a:r>
              <a:rPr lang="en-IN" sz="4200" b="1" strike="noStrike" spc="-222">
                <a:solidFill>
                  <a:srgbClr val="77933C"/>
                </a:solidFill>
                <a:latin typeface="Century Gothic"/>
              </a:rPr>
              <a:t> </a:t>
            </a:r>
            <a:r>
              <a:rPr lang="en-IN" sz="4200" b="1" strike="noStrike" spc="-26">
                <a:solidFill>
                  <a:srgbClr val="77933C"/>
                </a:solidFill>
                <a:latin typeface="Century Gothic"/>
              </a:rPr>
              <a:t>ML </a:t>
            </a:r>
            <a:r>
              <a:rPr lang="en-IN" sz="4200" b="1" strike="noStrike" spc="-12">
                <a:solidFill>
                  <a:srgbClr val="77933C"/>
                </a:solidFill>
                <a:latin typeface="Century Gothic"/>
              </a:rPr>
              <a:t>TECHNIQUES</a:t>
            </a:r>
            <a:endParaRPr lang="en-IN" sz="4200" b="0" strike="noStrike" spc="-1">
              <a:latin typeface="Calibri"/>
            </a:endParaRPr>
          </a:p>
        </p:txBody>
      </p:sp>
      <p:sp>
        <p:nvSpPr>
          <p:cNvPr id="128" name="object 4"/>
          <p:cNvSpPr/>
          <p:nvPr/>
        </p:nvSpPr>
        <p:spPr>
          <a:xfrm>
            <a:off x="1397160" y="3886200"/>
            <a:ext cx="4476960" cy="225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2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884"/>
              </a:spcBef>
              <a:buNone/>
            </a:pPr>
            <a:r>
              <a:rPr lang="en-IN" sz="1800" b="0" strike="noStrike" spc="-1">
                <a:latin typeface="Century Gothic"/>
              </a:rPr>
              <a:t>Team</a:t>
            </a:r>
            <a:r>
              <a:rPr lang="en-IN" sz="1800" b="0" strike="noStrike" spc="-12">
                <a:latin typeface="Century Gothic"/>
              </a:rPr>
              <a:t> Members:</a:t>
            </a:r>
            <a:endParaRPr lang="en-IN" sz="1800" b="0" strike="noStrike" spc="-1">
              <a:latin typeface="Arial"/>
            </a:endParaRPr>
          </a:p>
          <a:p>
            <a:pPr marL="12600">
              <a:lnSpc>
                <a:spcPct val="136000"/>
              </a:lnSpc>
              <a:spcBef>
                <a:spcPts val="6"/>
              </a:spcBef>
              <a:buNone/>
            </a:pPr>
            <a:r>
              <a:rPr lang="en-IN" sz="1800" b="0" strike="noStrike" spc="-1">
                <a:latin typeface="Century Gothic"/>
              </a:rPr>
              <a:t>MANAS</a:t>
            </a:r>
            <a:r>
              <a:rPr lang="en-IN" sz="1800" b="0" strike="noStrike" spc="-7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SACHIN</a:t>
            </a:r>
            <a:r>
              <a:rPr lang="en-IN" sz="1800" b="0" strike="noStrike" spc="-72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DESHMUKH(2022102040) </a:t>
            </a:r>
            <a:r>
              <a:rPr lang="en-IN" sz="1800" b="0" strike="noStrike" spc="-1">
                <a:latin typeface="Century Gothic"/>
              </a:rPr>
              <a:t>ADITI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SINGH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(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2022101075)</a:t>
            </a:r>
            <a:endParaRPr lang="en-IN" sz="1800" b="0" strike="noStrike" spc="-1">
              <a:latin typeface="Arial"/>
            </a:endParaRPr>
          </a:p>
          <a:p>
            <a:pPr marL="12600">
              <a:lnSpc>
                <a:spcPct val="136000"/>
              </a:lnSpc>
              <a:spcBef>
                <a:spcPts val="6"/>
              </a:spcBef>
              <a:buNone/>
            </a:pPr>
            <a:endParaRPr lang="en-IN" sz="18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85"/>
              </a:spcBef>
              <a:buNone/>
            </a:pPr>
            <a:r>
              <a:rPr lang="en-IN" sz="1800" b="0" strike="noStrike" spc="-1">
                <a:latin typeface="Century Gothic"/>
              </a:rPr>
              <a:t>Faculty</a:t>
            </a:r>
            <a:r>
              <a:rPr lang="en-US" sz="1800" b="0" strike="noStrike" spc="-1">
                <a:latin typeface="Century Gothic"/>
              </a:rPr>
              <a:t> Advisor:</a:t>
            </a:r>
            <a:r>
              <a:rPr lang="en-US" sz="1800" b="0" strike="noStrike" spc="-52">
                <a:latin typeface="Century Gothic"/>
              </a:rPr>
              <a:t> </a:t>
            </a:r>
            <a:r>
              <a:rPr lang="en-US" sz="1800" b="0" strike="noStrike" spc="-1">
                <a:latin typeface="Century Gothic"/>
              </a:rPr>
              <a:t>Jofin George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8D281FB-569F-41B3-88B4-A5A15C1A9A7D}" type="slidenum"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48880" y="700200"/>
            <a:ext cx="10592640" cy="150948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239724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4000" b="1" strike="noStrike" spc="-12">
                <a:solidFill>
                  <a:srgbClr val="31859C"/>
                </a:solidFill>
                <a:latin typeface="Century Gothic"/>
              </a:rPr>
              <a:t>PRIMARY OBJECTIVES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764640" y="2157840"/>
            <a:ext cx="10592640" cy="26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1640" rIns="0" bIns="0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799"/>
              </a:spcAft>
              <a:buNone/>
            </a:pPr>
            <a:r>
              <a:rPr lang="en-US" sz="3000" b="0" strike="noStrike" spc="-1">
                <a:latin typeface="Century Gothic"/>
                <a:ea typeface="Aptos"/>
              </a:rPr>
              <a:t>Develop an machine learning algorithm to find the optimum thickness (</a:t>
            </a:r>
            <a:r>
              <a:rPr lang="en-US" sz="3000" b="0" i="1" strike="noStrike" spc="-1">
                <a:latin typeface="Century Gothic"/>
                <a:ea typeface="Aptos"/>
              </a:rPr>
              <a:t>t) </a:t>
            </a:r>
            <a:r>
              <a:rPr lang="en-US" sz="3000" b="0" strike="noStrike" spc="-1">
                <a:latin typeface="Century Gothic"/>
                <a:ea typeface="Aptos"/>
              </a:rPr>
              <a:t>of a </a:t>
            </a:r>
            <a:r>
              <a:rPr lang="en-US" sz="3000" b="1" i="1" strike="noStrike" spc="-1">
                <a:latin typeface="Century Gothic"/>
                <a:ea typeface="Aptos"/>
              </a:rPr>
              <a:t>masonry arch </a:t>
            </a:r>
            <a:r>
              <a:rPr lang="en-US" sz="3000" b="0" strike="noStrike" spc="-1">
                <a:latin typeface="Century Gothic"/>
                <a:ea typeface="Aptos"/>
              </a:rPr>
              <a:t>by minimizing the collapse probability considering horizontal seismic forces and vertical gravity loads, and externally applied load.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03625C-D1C0-4ECE-8481-54C64B699000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700200"/>
            <a:ext cx="10603080" cy="150948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208800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4000" b="1" strike="noStrike" spc="-12">
                <a:solidFill>
                  <a:srgbClr val="31859C"/>
                </a:solidFill>
                <a:latin typeface="Century Gothic"/>
              </a:rPr>
              <a:t>SECONDARY OBJECTIVES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32" name="object 3"/>
          <p:cNvSpPr/>
          <p:nvPr/>
        </p:nvSpPr>
        <p:spPr>
          <a:xfrm>
            <a:off x="764640" y="2175840"/>
            <a:ext cx="10261080" cy="37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2280" rIns="0" bIns="0" anchor="t">
            <a:spAutoFit/>
          </a:bodyPr>
          <a:lstStyle/>
          <a:p>
            <a:pPr marL="457200" indent="-457200">
              <a:lnSpc>
                <a:spcPct val="115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600" b="0" strike="noStrike" spc="-1">
                <a:latin typeface="Century Gothic"/>
                <a:ea typeface="Aptos"/>
              </a:rPr>
              <a:t>Identify the failure pattern of the arch considering vertical loads, horizontal forces and a combination of both.</a:t>
            </a:r>
            <a:endParaRPr lang="en-IN" sz="2600" b="0" strike="noStrike" spc="-1">
              <a:latin typeface="Arial"/>
            </a:endParaRPr>
          </a:p>
          <a:p>
            <a:pPr marL="457200" indent="-457200">
              <a:lnSpc>
                <a:spcPct val="115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600" b="0" strike="noStrike" spc="-1">
                <a:latin typeface="Century Gothic"/>
                <a:ea typeface="Aptos"/>
              </a:rPr>
              <a:t>To quantify the optimum </a:t>
            </a:r>
            <a:r>
              <a:rPr lang="en-US" sz="2600" b="1" strike="noStrike" spc="-1">
                <a:latin typeface="Century Gothic"/>
                <a:ea typeface="Aptos"/>
              </a:rPr>
              <a:t>uniform</a:t>
            </a:r>
            <a:r>
              <a:rPr lang="en-US" sz="2600" b="0" strike="noStrike" spc="-1">
                <a:latin typeface="Century Gothic"/>
                <a:ea typeface="Aptos"/>
              </a:rPr>
              <a:t> arch thickness considering all possible load combinations of horizontal forces and vertical loads.</a:t>
            </a:r>
            <a:endParaRPr lang="en-IN" sz="2600" b="0" strike="noStrike" spc="-1">
              <a:latin typeface="Arial"/>
            </a:endParaRPr>
          </a:p>
          <a:p>
            <a:pPr marL="457200" indent="-457200">
              <a:lnSpc>
                <a:spcPct val="115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600" b="0" strike="noStrike" spc="-1">
                <a:latin typeface="Century Gothic"/>
                <a:ea typeface="Aptos"/>
              </a:rPr>
              <a:t>To quantify the optimum </a:t>
            </a:r>
            <a:r>
              <a:rPr lang="en-US" sz="2600" b="1" strike="noStrike" spc="-1">
                <a:latin typeface="Century Gothic"/>
                <a:ea typeface="Aptos"/>
              </a:rPr>
              <a:t>non-uniform</a:t>
            </a:r>
            <a:r>
              <a:rPr lang="en-US" sz="2600" b="0" strike="noStrike" spc="-1">
                <a:latin typeface="Century Gothic"/>
                <a:ea typeface="Aptos"/>
              </a:rPr>
              <a:t> arch thickness considering all possible load combinations of horizontal forces and vertical loads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729FB5-BA7C-4E23-9864-6560E761C6FB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62120" y="700200"/>
            <a:ext cx="10679400" cy="1209240"/>
          </a:xfrm>
          <a:prstGeom prst="rect">
            <a:avLst/>
          </a:prstGeom>
          <a:noFill/>
          <a:ln w="0">
            <a:noFill/>
          </a:ln>
        </p:spPr>
        <p:txBody>
          <a:bodyPr lIns="0" tIns="64080" rIns="0" bIns="0" anchor="t">
            <a:noAutofit/>
          </a:bodyPr>
          <a:lstStyle/>
          <a:p>
            <a:pPr marL="951840" indent="141480">
              <a:lnSpc>
                <a:spcPts val="3240"/>
              </a:lnSpc>
              <a:spcBef>
                <a:spcPts val="505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TYPES</a:t>
            </a:r>
            <a:r>
              <a:rPr lang="en-IN" sz="4000" b="1" strike="noStrike" spc="-120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OF</a:t>
            </a:r>
            <a:r>
              <a:rPr lang="en-IN" sz="4000" b="1" strike="noStrike" spc="-106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STANDARD</a:t>
            </a:r>
            <a:r>
              <a:rPr lang="en-IN" sz="4000" b="1" strike="noStrike" spc="-97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ARCHE</a:t>
            </a:r>
            <a:r>
              <a:rPr lang="en-US" sz="4000" b="1" strike="noStrike" spc="-1">
                <a:solidFill>
                  <a:srgbClr val="31859C"/>
                </a:solidFill>
                <a:latin typeface="Century Gothic"/>
              </a:rPr>
              <a:t>S</a:t>
            </a:r>
            <a:r>
              <a:rPr lang="en-US" sz="4000" b="1" strike="noStrike" spc="-111">
                <a:solidFill>
                  <a:srgbClr val="31859C"/>
                </a:solidFill>
                <a:latin typeface="Century Gothic"/>
              </a:rPr>
              <a:t> </a:t>
            </a:r>
            <a:br>
              <a:rPr sz="3000"/>
            </a:br>
            <a:endParaRPr lang="en-IN" sz="4000" b="0" strike="noStrike" spc="-1">
              <a:latin typeface="Calibri"/>
            </a:endParaRPr>
          </a:p>
        </p:txBody>
      </p:sp>
      <p:pic>
        <p:nvPicPr>
          <p:cNvPr id="134" name="object 3"/>
          <p:cNvPicPr/>
          <p:nvPr/>
        </p:nvPicPr>
        <p:blipFill>
          <a:blip r:embed="rId2"/>
          <a:stretch/>
        </p:blipFill>
        <p:spPr>
          <a:xfrm>
            <a:off x="1219320" y="2323800"/>
            <a:ext cx="4222080" cy="3833640"/>
          </a:xfrm>
          <a:prstGeom prst="rect">
            <a:avLst/>
          </a:prstGeom>
          <a:ln w="0">
            <a:noFill/>
          </a:ln>
        </p:spPr>
      </p:pic>
      <p:pic>
        <p:nvPicPr>
          <p:cNvPr id="135" name="object 4"/>
          <p:cNvPicPr/>
          <p:nvPr/>
        </p:nvPicPr>
        <p:blipFill>
          <a:blip r:embed="rId3"/>
          <a:stretch/>
        </p:blipFill>
        <p:spPr>
          <a:xfrm>
            <a:off x="6390720" y="2118240"/>
            <a:ext cx="5114160" cy="4132080"/>
          </a:xfrm>
          <a:prstGeom prst="rect">
            <a:avLst/>
          </a:prstGeom>
          <a:ln w="0">
            <a:noFill/>
          </a:ln>
        </p:spPr>
      </p:pic>
      <p:sp>
        <p:nvSpPr>
          <p:cNvPr id="136" name="TextBox 5"/>
          <p:cNvSpPr/>
          <p:nvPr/>
        </p:nvSpPr>
        <p:spPr>
          <a:xfrm>
            <a:off x="696240" y="1872720"/>
            <a:ext cx="8305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latin typeface="Arial"/>
              </a:rPr>
              <a:t>INITIALLY</a:t>
            </a:r>
            <a:r>
              <a:rPr lang="en-US" sz="1800" b="0" strike="noStrike" spc="-131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FOCUS</a:t>
            </a:r>
            <a:r>
              <a:rPr lang="en-US" sz="1800" b="0" strike="noStrike" spc="-111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ON</a:t>
            </a:r>
            <a:r>
              <a:rPr lang="en-US" sz="1800" b="0" strike="noStrike" spc="-111">
                <a:latin typeface="Arial"/>
              </a:rPr>
              <a:t> </a:t>
            </a:r>
            <a:r>
              <a:rPr lang="en-US" sz="1800" b="0" strike="noStrike" spc="-1">
                <a:latin typeface="Arial"/>
              </a:rPr>
              <a:t>SEMICIRCULAR</a:t>
            </a:r>
            <a:r>
              <a:rPr lang="en-US" sz="1800" b="0" strike="noStrike" spc="-106">
                <a:latin typeface="Arial"/>
              </a:rPr>
              <a:t> </a:t>
            </a:r>
            <a:r>
              <a:rPr lang="en-US" sz="1800" b="0" strike="noStrike" spc="-26">
                <a:latin typeface="Arial"/>
              </a:rPr>
              <a:t>AND </a:t>
            </a:r>
            <a:r>
              <a:rPr lang="en-US" sz="1800" b="0" strike="noStrike" spc="-1">
                <a:latin typeface="Arial"/>
              </a:rPr>
              <a:t>SEGMENTAL</a:t>
            </a:r>
            <a:r>
              <a:rPr lang="en-US" sz="1800" b="0" strike="noStrike" spc="-171">
                <a:latin typeface="Arial"/>
              </a:rPr>
              <a:t> </a:t>
            </a:r>
            <a:r>
              <a:rPr lang="en-US" sz="1800" b="0" strike="noStrike" spc="-12">
                <a:latin typeface="Arial"/>
              </a:rPr>
              <a:t>ARCHES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EF0AFB1-A178-431B-A61D-CA11D7DED134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914680" cy="1284840"/>
          </a:xfrm>
          <a:prstGeom prst="rect">
            <a:avLst/>
          </a:prstGeom>
          <a:noFill/>
          <a:ln w="0">
            <a:noFill/>
          </a:ln>
        </p:spPr>
        <p:txBody>
          <a:bodyPr lIns="0" tIns="139680" rIns="0" bIns="0" anchor="t">
            <a:noAutofit/>
          </a:bodyPr>
          <a:lstStyle/>
          <a:p>
            <a:pPr marL="1162050" indent="-7137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IN" sz="4000" b="1" strike="noStrike" spc="-1" dirty="0">
                <a:solidFill>
                  <a:srgbClr val="31859C"/>
                </a:solidFill>
                <a:latin typeface="Century Gothic"/>
              </a:rPr>
              <a:t>CASE</a:t>
            </a:r>
            <a:r>
              <a:rPr lang="en-IN" sz="4000" b="1" strike="noStrike" spc="-12" dirty="0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pc="-12" dirty="0">
                <a:solidFill>
                  <a:srgbClr val="31859C"/>
                </a:solidFill>
                <a:latin typeface="Century Gothic"/>
              </a:rPr>
              <a:t>1</a:t>
            </a:r>
            <a:r>
              <a:rPr lang="en-IN" sz="4000" b="1" spc="-1" dirty="0">
                <a:solidFill>
                  <a:srgbClr val="31859C"/>
                </a:solidFill>
                <a:latin typeface="Century Gothic"/>
              </a:rPr>
              <a:t> </a:t>
            </a:r>
            <a:r>
              <a:rPr lang="en-IN" sz="4000" b="1" strike="noStrike" spc="-12" dirty="0">
                <a:solidFill>
                  <a:srgbClr val="31859C"/>
                </a:solidFill>
                <a:latin typeface="Century Gothic"/>
              </a:rPr>
              <a:t>DETAILS</a:t>
            </a:r>
            <a:endParaRPr lang="en-IN" sz="4000" b="0" strike="noStrike" spc="-1" dirty="0">
              <a:latin typeface="Calibri"/>
            </a:endParaRPr>
          </a:p>
        </p:txBody>
      </p:sp>
      <p:sp>
        <p:nvSpPr>
          <p:cNvPr id="143" name="object 8"/>
          <p:cNvSpPr/>
          <p:nvPr/>
        </p:nvSpPr>
        <p:spPr>
          <a:xfrm>
            <a:off x="764640" y="2188080"/>
            <a:ext cx="10893600" cy="14252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>
              <a:buClr>
                <a:srgbClr val="0D0D0D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In this case,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main force acting on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arch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is the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horizontal seismic force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 due to ground motion. The only vertical force present is the self-weight of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arch due to gravity. There are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no additional vertical loads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 from vehicles or construction materials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.</a:t>
            </a:r>
            <a:endParaRPr lang="en-IN" sz="2200" spc="-1">
              <a:solidFill>
                <a:srgbClr val="000000"/>
              </a:solidFill>
              <a:ea typeface="+mn-lt"/>
              <a:cs typeface="+mn-lt"/>
            </a:endParaRPr>
          </a:p>
          <a:p>
            <a:pPr marL="12065">
              <a:lnSpc>
                <a:spcPts val="2381"/>
              </a:lnSpc>
              <a:spcBef>
                <a:spcPts val="394"/>
              </a:spcBef>
              <a:tabLst>
                <a:tab pos="241200" algn="l"/>
              </a:tabLst>
            </a:pPr>
            <a:endParaRPr lang="en-IN" sz="2200" spc="-12" dirty="0">
              <a:solidFill>
                <a:srgbClr val="0D0D0D"/>
              </a:solidFill>
              <a:ea typeface="+mn-lt"/>
              <a:cs typeface="+mn-lt"/>
            </a:endParaRPr>
          </a:p>
        </p:txBody>
      </p:sp>
      <p:sp>
        <p:nvSpPr>
          <p:cNvPr id="144" name="object 9"/>
          <p:cNvSpPr/>
          <p:nvPr/>
        </p:nvSpPr>
        <p:spPr>
          <a:xfrm>
            <a:off x="7465680" y="5229720"/>
            <a:ext cx="2803680" cy="1115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065">
              <a:spcBef>
                <a:spcPts val="99"/>
              </a:spcBef>
            </a:pPr>
            <a:r>
              <a:rPr lang="en-IN" sz="2600" b="1" strike="noStrike" spc="-12" dirty="0">
                <a:solidFill>
                  <a:srgbClr val="FF0000"/>
                </a:solidFill>
                <a:latin typeface="Century Gothic"/>
              </a:rPr>
              <a:t>F1</a:t>
            </a:r>
            <a:r>
              <a:rPr lang="en-IN" sz="2600" b="1" spc="-12" dirty="0">
                <a:solidFill>
                  <a:srgbClr val="FF0000"/>
                </a:solidFill>
                <a:latin typeface="Century Gothic"/>
                <a:cs typeface="Arial"/>
              </a:rPr>
              <a:t>=F2+</a:t>
            </a:r>
            <a:r>
              <a:rPr lang="en-IN" sz="2600" b="1" strike="noStrike" spc="-12" dirty="0">
                <a:solidFill>
                  <a:srgbClr val="FF0000"/>
                </a:solidFill>
                <a:latin typeface="Century Gothic"/>
                <a:ea typeface="+mn-lt"/>
                <a:cs typeface="+mn-lt"/>
              </a:rPr>
              <a:t>F3</a:t>
            </a:r>
            <a:endParaRPr lang="en-IN" sz="2600" b="1" strike="noStrike" spc="-12" dirty="0">
              <a:solidFill>
                <a:srgbClr val="FF0000"/>
              </a:solidFill>
              <a:latin typeface="Century Gothic"/>
            </a:endParaRPr>
          </a:p>
          <a:p>
            <a:pPr marL="12065">
              <a:spcBef>
                <a:spcPts val="99"/>
              </a:spcBef>
            </a:pPr>
            <a:r>
              <a:rPr lang="en-IN" b="1" spc="-12" dirty="0">
                <a:solidFill>
                  <a:srgbClr val="FF0000"/>
                </a:solidFill>
                <a:latin typeface="Century Gothic"/>
              </a:rPr>
              <a:t>and</a:t>
            </a:r>
          </a:p>
          <a:p>
            <a:pPr marL="12065">
              <a:spcBef>
                <a:spcPts val="99"/>
              </a:spcBef>
            </a:pPr>
            <a:r>
              <a:rPr lang="en-IN" sz="2600" b="1" spc="-12" dirty="0">
                <a:solidFill>
                  <a:srgbClr val="FF0000"/>
                </a:solidFill>
                <a:latin typeface="Century Gothic"/>
              </a:rPr>
              <a:t>F2 = m*g</a:t>
            </a:r>
          </a:p>
        </p:txBody>
      </p:sp>
      <p:sp>
        <p:nvSpPr>
          <p:cNvPr id="145" name="TextBox 10"/>
          <p:cNvSpPr/>
          <p:nvPr/>
        </p:nvSpPr>
        <p:spPr>
          <a:xfrm>
            <a:off x="6543720" y="3429000"/>
            <a:ext cx="5037859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200" spc="-1" dirty="0">
                <a:solidFill>
                  <a:srgbClr val="77933C"/>
                </a:solidFill>
                <a:ea typeface="+mn-lt"/>
                <a:cs typeface="+mn-lt"/>
              </a:rPr>
              <a:t>Net Force (F₁) = Gravity of the Arch (F₂) + Horizontal Seismic Force (F₃)</a:t>
            </a:r>
            <a:endParaRPr lang="en-US" sz="22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6E1A11-0DE6-44D1-9566-15CA16817AEB}" type="slidenum">
              <a:t>5</a:t>
            </a:fld>
            <a:endParaRPr/>
          </a:p>
        </p:txBody>
      </p:sp>
      <p:pic>
        <p:nvPicPr>
          <p:cNvPr id="5" name="Picture 4" descr="A car on a bridge&#10;&#10;AI-generated content may be incorrect.">
            <a:extLst>
              <a:ext uri="{FF2B5EF4-FFF2-40B4-BE49-F238E27FC236}">
                <a16:creationId xmlns:a16="http://schemas.microsoft.com/office/drawing/2014/main" id="{FE4DE11C-D906-D9D6-5E64-90C7A4C6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29" y="3521754"/>
            <a:ext cx="6067426" cy="3107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6628-E80D-3BFC-2EC1-31A3DE4F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32757EE1-3781-335D-C9DB-1EA7B735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120" y="700200"/>
            <a:ext cx="8914680" cy="1284840"/>
          </a:xfrm>
          <a:prstGeom prst="rect">
            <a:avLst/>
          </a:prstGeom>
          <a:noFill/>
          <a:ln w="0">
            <a:noFill/>
          </a:ln>
        </p:spPr>
        <p:txBody>
          <a:bodyPr lIns="0" tIns="139680" rIns="0" bIns="0" anchor="t">
            <a:noAutofit/>
          </a:bodyPr>
          <a:lstStyle/>
          <a:p>
            <a:pPr marL="1162050" indent="-71374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IN" sz="4000" b="1" strike="noStrike" spc="-1" dirty="0">
                <a:solidFill>
                  <a:srgbClr val="31859C"/>
                </a:solidFill>
                <a:latin typeface="Century Gothic"/>
              </a:rPr>
              <a:t>CASE</a:t>
            </a:r>
            <a:r>
              <a:rPr lang="en-IN" sz="4000" b="1" strike="noStrike" spc="-12" dirty="0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pc="-12" dirty="0">
                <a:solidFill>
                  <a:srgbClr val="31859C"/>
                </a:solidFill>
                <a:latin typeface="Century Gothic"/>
              </a:rPr>
              <a:t>2</a:t>
            </a:r>
            <a:r>
              <a:rPr lang="en-IN" sz="4000" b="1" spc="-1" dirty="0">
                <a:solidFill>
                  <a:srgbClr val="31859C"/>
                </a:solidFill>
                <a:latin typeface="Century Gothic"/>
              </a:rPr>
              <a:t> </a:t>
            </a:r>
            <a:r>
              <a:rPr lang="en-IN" sz="4000" b="1" strike="noStrike" spc="-12" dirty="0">
                <a:solidFill>
                  <a:srgbClr val="31859C"/>
                </a:solidFill>
                <a:latin typeface="Century Gothic"/>
              </a:rPr>
              <a:t>DETAILS</a:t>
            </a:r>
            <a:endParaRPr lang="en-IN" sz="4000" b="0" strike="noStrike" spc="-1" dirty="0">
              <a:latin typeface="Calibri"/>
            </a:endParaRPr>
          </a:p>
        </p:txBody>
      </p:sp>
      <p:grpSp>
        <p:nvGrpSpPr>
          <p:cNvPr id="138" name="object 3">
            <a:extLst>
              <a:ext uri="{FF2B5EF4-FFF2-40B4-BE49-F238E27FC236}">
                <a16:creationId xmlns:a16="http://schemas.microsoft.com/office/drawing/2014/main" id="{3954906A-6261-C0B8-F63C-E89C1A4F45CF}"/>
              </a:ext>
            </a:extLst>
          </p:cNvPr>
          <p:cNvGrpSpPr/>
          <p:nvPr/>
        </p:nvGrpSpPr>
        <p:grpSpPr>
          <a:xfrm>
            <a:off x="764640" y="3551400"/>
            <a:ext cx="5431320" cy="3332520"/>
            <a:chOff x="764640" y="3551400"/>
            <a:chExt cx="5431320" cy="3332520"/>
          </a:xfrm>
        </p:grpSpPr>
        <p:sp>
          <p:nvSpPr>
            <p:cNvPr id="139" name="object 4">
              <a:extLst>
                <a:ext uri="{FF2B5EF4-FFF2-40B4-BE49-F238E27FC236}">
                  <a16:creationId xmlns:a16="http://schemas.microsoft.com/office/drawing/2014/main" id="{867AFC44-FD8F-218C-4531-7A40B0968CDD}"/>
                </a:ext>
              </a:extLst>
            </p:cNvPr>
            <p:cNvSpPr/>
            <p:nvPr/>
          </p:nvSpPr>
          <p:spPr>
            <a:xfrm>
              <a:off x="3884400" y="4704120"/>
              <a:ext cx="75960" cy="990360"/>
            </a:xfrm>
            <a:custGeom>
              <a:avLst/>
              <a:gdLst/>
              <a:ahLst/>
              <a:cxnLst/>
              <a:rect l="l" t="t" r="r" b="b"/>
              <a:pathLst>
                <a:path w="76200" h="990600">
                  <a:moveTo>
                    <a:pt x="31739" y="914400"/>
                  </a:moveTo>
                  <a:lnTo>
                    <a:pt x="0" y="914400"/>
                  </a:lnTo>
                  <a:lnTo>
                    <a:pt x="38100" y="990600"/>
                  </a:lnTo>
                  <a:lnTo>
                    <a:pt x="69850" y="927100"/>
                  </a:lnTo>
                  <a:lnTo>
                    <a:pt x="31750" y="927100"/>
                  </a:lnTo>
                  <a:lnTo>
                    <a:pt x="31739" y="914400"/>
                  </a:lnTo>
                  <a:close/>
                </a:path>
                <a:path w="76200" h="990600">
                  <a:moveTo>
                    <a:pt x="43687" y="0"/>
                  </a:moveTo>
                  <a:lnTo>
                    <a:pt x="30987" y="0"/>
                  </a:lnTo>
                  <a:lnTo>
                    <a:pt x="31739" y="914400"/>
                  </a:lnTo>
                  <a:lnTo>
                    <a:pt x="31750" y="927100"/>
                  </a:lnTo>
                  <a:lnTo>
                    <a:pt x="44450" y="927100"/>
                  </a:lnTo>
                  <a:lnTo>
                    <a:pt x="43687" y="0"/>
                  </a:lnTo>
                  <a:close/>
                </a:path>
                <a:path w="76200" h="990600">
                  <a:moveTo>
                    <a:pt x="76200" y="914400"/>
                  </a:moveTo>
                  <a:lnTo>
                    <a:pt x="44439" y="914400"/>
                  </a:lnTo>
                  <a:lnTo>
                    <a:pt x="44450" y="927100"/>
                  </a:lnTo>
                  <a:lnTo>
                    <a:pt x="69850" y="927100"/>
                  </a:lnTo>
                  <a:lnTo>
                    <a:pt x="76200" y="914400"/>
                  </a:lnTo>
                  <a:close/>
                </a:path>
              </a:pathLst>
            </a:custGeom>
            <a:solidFill>
              <a:srgbClr val="E421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40" name="object 5">
              <a:extLst>
                <a:ext uri="{FF2B5EF4-FFF2-40B4-BE49-F238E27FC236}">
                  <a16:creationId xmlns:a16="http://schemas.microsoft.com/office/drawing/2014/main" id="{A0433895-DB25-2A8D-D056-A6A33E1AF95D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764640" y="3551400"/>
              <a:ext cx="5431320" cy="3332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1" name="object 6">
              <a:extLst>
                <a:ext uri="{FF2B5EF4-FFF2-40B4-BE49-F238E27FC236}">
                  <a16:creationId xmlns:a16="http://schemas.microsoft.com/office/drawing/2014/main" id="{E5E63705-24D6-90EF-CDC3-C54C4A284482}"/>
                </a:ext>
              </a:extLst>
            </p:cNvPr>
            <p:cNvSpPr/>
            <p:nvPr/>
          </p:nvSpPr>
          <p:spPr>
            <a:xfrm>
              <a:off x="3721320" y="5264280"/>
              <a:ext cx="75960" cy="489960"/>
            </a:xfrm>
            <a:custGeom>
              <a:avLst/>
              <a:gdLst/>
              <a:ahLst/>
              <a:cxnLst/>
              <a:rect l="l" t="t" r="r" b="b"/>
              <a:pathLst>
                <a:path w="76200" h="490220">
                  <a:moveTo>
                    <a:pt x="31731" y="413829"/>
                  </a:moveTo>
                  <a:lnTo>
                    <a:pt x="0" y="413829"/>
                  </a:lnTo>
                  <a:lnTo>
                    <a:pt x="38227" y="489965"/>
                  </a:lnTo>
                  <a:lnTo>
                    <a:pt x="69838" y="426478"/>
                  </a:lnTo>
                  <a:lnTo>
                    <a:pt x="31750" y="426478"/>
                  </a:lnTo>
                  <a:lnTo>
                    <a:pt x="31731" y="413829"/>
                  </a:lnTo>
                  <a:close/>
                </a:path>
                <a:path w="76200" h="490220">
                  <a:moveTo>
                    <a:pt x="43815" y="0"/>
                  </a:moveTo>
                  <a:lnTo>
                    <a:pt x="31115" y="0"/>
                  </a:lnTo>
                  <a:lnTo>
                    <a:pt x="31731" y="413829"/>
                  </a:lnTo>
                  <a:lnTo>
                    <a:pt x="31750" y="426478"/>
                  </a:lnTo>
                  <a:lnTo>
                    <a:pt x="44450" y="426478"/>
                  </a:lnTo>
                  <a:lnTo>
                    <a:pt x="43815" y="0"/>
                  </a:lnTo>
                  <a:close/>
                </a:path>
                <a:path w="76200" h="490220">
                  <a:moveTo>
                    <a:pt x="76136" y="413829"/>
                  </a:moveTo>
                  <a:lnTo>
                    <a:pt x="44431" y="413829"/>
                  </a:lnTo>
                  <a:lnTo>
                    <a:pt x="44450" y="426478"/>
                  </a:lnTo>
                  <a:lnTo>
                    <a:pt x="69838" y="426478"/>
                  </a:lnTo>
                  <a:lnTo>
                    <a:pt x="76136" y="413829"/>
                  </a:lnTo>
                  <a:close/>
                </a:path>
              </a:pathLst>
            </a:custGeom>
            <a:solidFill>
              <a:srgbClr val="E421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42" name="object 7">
            <a:extLst>
              <a:ext uri="{FF2B5EF4-FFF2-40B4-BE49-F238E27FC236}">
                <a16:creationId xmlns:a16="http://schemas.microsoft.com/office/drawing/2014/main" id="{745995F6-4AB3-D92F-F73A-F895607CFA35}"/>
              </a:ext>
            </a:extLst>
          </p:cNvPr>
          <p:cNvSpPr/>
          <p:nvPr/>
        </p:nvSpPr>
        <p:spPr>
          <a:xfrm>
            <a:off x="5237640" y="5417640"/>
            <a:ext cx="721800" cy="19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1200" b="0" strike="noStrike" spc="-1">
                <a:solidFill>
                  <a:srgbClr val="AF1538"/>
                </a:solidFill>
                <a:latin typeface="Century Gothic"/>
              </a:rPr>
              <a:t>Net</a:t>
            </a:r>
            <a:r>
              <a:rPr lang="en-IN" sz="1200" b="0" strike="noStrike" spc="-26">
                <a:solidFill>
                  <a:srgbClr val="AF1538"/>
                </a:solidFill>
                <a:latin typeface="Century Gothic"/>
              </a:rPr>
              <a:t> </a:t>
            </a:r>
            <a:r>
              <a:rPr lang="en-IN" sz="1200" b="0" strike="noStrike" spc="-12">
                <a:solidFill>
                  <a:srgbClr val="AF1538"/>
                </a:solidFill>
                <a:latin typeface="Century Gothic"/>
              </a:rPr>
              <a:t>force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43" name="object 8">
            <a:extLst>
              <a:ext uri="{FF2B5EF4-FFF2-40B4-BE49-F238E27FC236}">
                <a16:creationId xmlns:a16="http://schemas.microsoft.com/office/drawing/2014/main" id="{D52FDD09-7D95-6E19-7083-ECDE11B8D0CD}"/>
              </a:ext>
            </a:extLst>
          </p:cNvPr>
          <p:cNvSpPr/>
          <p:nvPr/>
        </p:nvSpPr>
        <p:spPr>
          <a:xfrm>
            <a:off x="764640" y="2188080"/>
            <a:ext cx="10893600" cy="106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>
              <a:buClr>
                <a:srgbClr val="0D0D0D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In this case,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forces acting on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arch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are the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vertical self-weight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 of 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the 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arch due to gravity,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vertical loads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 from construction materials, and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vertical vehicle loads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. There are </a:t>
            </a:r>
            <a:r>
              <a:rPr lang="en-IN" sz="2200" b="1" spc="-12" dirty="0">
                <a:solidFill>
                  <a:srgbClr val="0D0D0D"/>
                </a:solidFill>
                <a:ea typeface="+mn-lt"/>
                <a:cs typeface="+mn-lt"/>
              </a:rPr>
              <a:t>no horizontal forces</a:t>
            </a:r>
            <a:r>
              <a:rPr lang="en-IN" sz="2200" spc="-12" dirty="0">
                <a:solidFill>
                  <a:srgbClr val="0D0D0D"/>
                </a:solidFill>
                <a:ea typeface="+mn-lt"/>
                <a:cs typeface="+mn-lt"/>
              </a:rPr>
              <a:t> (seismic forces) acting on the arch</a:t>
            </a:r>
            <a:r>
              <a:rPr lang="en-IN" sz="2200" b="0" strike="noStrike" spc="-12" dirty="0">
                <a:solidFill>
                  <a:srgbClr val="0D0D0D"/>
                </a:solidFill>
                <a:ea typeface="+mn-lt"/>
                <a:cs typeface="+mn-lt"/>
              </a:rPr>
              <a:t>.</a:t>
            </a:r>
            <a:endParaRPr lang="en-IN" sz="2200" spc="-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44" name="object 9">
            <a:extLst>
              <a:ext uri="{FF2B5EF4-FFF2-40B4-BE49-F238E27FC236}">
                <a16:creationId xmlns:a16="http://schemas.microsoft.com/office/drawing/2014/main" id="{E9B50B5A-42AB-C4A6-D20F-C4969E3E3A96}"/>
              </a:ext>
            </a:extLst>
          </p:cNvPr>
          <p:cNvSpPr/>
          <p:nvPr/>
        </p:nvSpPr>
        <p:spPr>
          <a:xfrm>
            <a:off x="7465680" y="5229720"/>
            <a:ext cx="2803680" cy="1115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065">
              <a:spcBef>
                <a:spcPts val="99"/>
              </a:spcBef>
            </a:pPr>
            <a:r>
              <a:rPr lang="en-IN" sz="2600" b="1" strike="noStrike" spc="-12" dirty="0">
                <a:solidFill>
                  <a:srgbClr val="FF0000"/>
                </a:solidFill>
                <a:latin typeface="Century Gothic"/>
              </a:rPr>
              <a:t>F1</a:t>
            </a:r>
            <a:r>
              <a:rPr lang="en-IN" sz="2600" b="1" spc="-12" dirty="0">
                <a:solidFill>
                  <a:srgbClr val="FF0000"/>
                </a:solidFill>
                <a:latin typeface="Century Gothic"/>
                <a:cs typeface="Arial"/>
              </a:rPr>
              <a:t>=F2+</a:t>
            </a:r>
            <a:r>
              <a:rPr lang="en-IN" sz="2600" b="1" strike="noStrike" spc="-12" dirty="0">
                <a:solidFill>
                  <a:srgbClr val="FF0000"/>
                </a:solidFill>
                <a:latin typeface="Century Gothic"/>
                <a:ea typeface="+mn-lt"/>
                <a:cs typeface="+mn-lt"/>
              </a:rPr>
              <a:t>F3</a:t>
            </a:r>
            <a:r>
              <a:rPr lang="en-IN" sz="2600" b="1" spc="-12" dirty="0">
                <a:solidFill>
                  <a:srgbClr val="FF0000"/>
                </a:solidFill>
                <a:latin typeface="Century Gothic"/>
                <a:ea typeface="+mn-lt"/>
                <a:cs typeface="+mn-lt"/>
              </a:rPr>
              <a:t>+F4</a:t>
            </a:r>
            <a:endParaRPr lang="en-IN" sz="2600" b="1" strike="noStrike" spc="-12" dirty="0">
              <a:solidFill>
                <a:srgbClr val="FF0000"/>
              </a:solidFill>
              <a:latin typeface="Century Gothic"/>
            </a:endParaRPr>
          </a:p>
          <a:p>
            <a:pPr marL="12065">
              <a:spcBef>
                <a:spcPts val="99"/>
              </a:spcBef>
            </a:pPr>
            <a:r>
              <a:rPr lang="en-IN" b="1" spc="-12" dirty="0">
                <a:solidFill>
                  <a:srgbClr val="FF0000"/>
                </a:solidFill>
                <a:latin typeface="Century Gothic"/>
              </a:rPr>
              <a:t>and</a:t>
            </a:r>
          </a:p>
          <a:p>
            <a:pPr marL="12065">
              <a:spcBef>
                <a:spcPts val="99"/>
              </a:spcBef>
            </a:pPr>
            <a:r>
              <a:rPr lang="en-IN" sz="2600" b="1" spc="-12" dirty="0">
                <a:solidFill>
                  <a:srgbClr val="FF0000"/>
                </a:solidFill>
                <a:latin typeface="Century Gothic"/>
              </a:rPr>
              <a:t>F2 = m*g</a:t>
            </a:r>
          </a:p>
        </p:txBody>
      </p:sp>
      <p:sp>
        <p:nvSpPr>
          <p:cNvPr id="145" name="TextBox 10">
            <a:extLst>
              <a:ext uri="{FF2B5EF4-FFF2-40B4-BE49-F238E27FC236}">
                <a16:creationId xmlns:a16="http://schemas.microsoft.com/office/drawing/2014/main" id="{27ADDA24-9DFB-C970-AE13-823D726D0AF5}"/>
              </a:ext>
            </a:extLst>
          </p:cNvPr>
          <p:cNvSpPr/>
          <p:nvPr/>
        </p:nvSpPr>
        <p:spPr>
          <a:xfrm>
            <a:off x="6543720" y="3429000"/>
            <a:ext cx="5037859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200" spc="-1" dirty="0">
                <a:solidFill>
                  <a:srgbClr val="77933C"/>
                </a:solidFill>
                <a:ea typeface="+mn-lt"/>
                <a:cs typeface="+mn-lt"/>
              </a:rPr>
              <a:t>Net Force (F₁) = Force due to Gravity (F₂) + Force due to External Construction Material (F₃) + Force due to Vehicle (F₄)</a:t>
            </a:r>
            <a:endParaRPr lang="en-US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359C3ED-F505-3428-1E74-0C9C1D7DD7D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6E1A11-0DE6-44D1-9566-15CA16817AEB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3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6960" y="756360"/>
            <a:ext cx="8393040" cy="158364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1191240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METHODOLOGY</a:t>
            </a:r>
            <a:r>
              <a:rPr lang="en-IN" sz="4000" b="1" strike="noStrike" spc="-5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TO</a:t>
            </a:r>
            <a:r>
              <a:rPr lang="en-IN" sz="4000" b="1" strike="noStrike" spc="-66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BE</a:t>
            </a:r>
            <a:r>
              <a:rPr lang="en-IN" sz="4000" b="1" strike="noStrike" spc="-4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USED:-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47" name="object 3"/>
          <p:cNvSpPr/>
          <p:nvPr/>
        </p:nvSpPr>
        <p:spPr>
          <a:xfrm>
            <a:off x="764640" y="2188080"/>
            <a:ext cx="10496880" cy="30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241200" indent="-228600">
              <a:lnSpc>
                <a:spcPts val="2381"/>
              </a:lnSpc>
              <a:spcBef>
                <a:spcPts val="394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Research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papers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based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on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topic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US" sz="2200" b="0" strike="noStrike" spc="-21">
                <a:latin typeface="Century Gothic"/>
              </a:rPr>
              <a:t>were </a:t>
            </a:r>
            <a:r>
              <a:rPr lang="en-US" sz="2200" b="0" strike="noStrike" spc="-1">
                <a:latin typeface="Century Gothic"/>
              </a:rPr>
              <a:t>analyzed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ML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techniques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26">
                <a:latin typeface="Century Gothic"/>
              </a:rPr>
              <a:t>to </a:t>
            </a:r>
            <a:r>
              <a:rPr lang="en-US" sz="2200" b="0" strike="noStrike" spc="-1">
                <a:latin typeface="Century Gothic"/>
              </a:rPr>
              <a:t>get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more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knowledge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about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optimizations.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89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US" sz="2200" b="0" strike="noStrike" spc="-1">
                <a:latin typeface="Century Gothic"/>
              </a:rPr>
              <a:t>We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will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consider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three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cases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about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forces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acting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on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arch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we</a:t>
            </a:r>
            <a:r>
              <a:rPr lang="en-US" sz="2200" b="0" strike="noStrike" spc="-21">
                <a:latin typeface="Century Gothic"/>
              </a:rPr>
              <a:t> will </a:t>
            </a:r>
            <a:r>
              <a:rPr lang="en-US" sz="2200" b="0" strike="noStrike" spc="-1">
                <a:latin typeface="Century Gothic"/>
              </a:rPr>
              <a:t>try</a:t>
            </a:r>
            <a:r>
              <a:rPr lang="en-US" sz="2200" b="0" strike="noStrike" spc="-1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to</a:t>
            </a:r>
            <a:r>
              <a:rPr lang="en-US" sz="2200" b="0" strike="noStrike" spc="-1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compute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using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ML</a:t>
            </a:r>
            <a:r>
              <a:rPr lang="en-US" sz="2200" b="0" strike="noStrike" spc="-1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optimum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thickness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in</a:t>
            </a:r>
            <a:r>
              <a:rPr lang="en-US" sz="2200" b="0" strike="noStrike" spc="-7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each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of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three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cases.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9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first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case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considered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is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when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only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vertical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gravity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force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of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21">
                <a:latin typeface="Century Gothic"/>
              </a:rPr>
              <a:t>arch </a:t>
            </a:r>
            <a:r>
              <a:rPr lang="en-US" sz="2200" b="0" strike="noStrike" spc="-1">
                <a:latin typeface="Century Gothic"/>
              </a:rPr>
              <a:t>itself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is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considered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so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only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m*g(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mass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of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arch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*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acceleration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due</a:t>
            </a:r>
            <a:r>
              <a:rPr lang="en-US" sz="2200" b="0" strike="noStrike" spc="-12">
                <a:latin typeface="Century Gothic"/>
              </a:rPr>
              <a:t> </a:t>
            </a:r>
            <a:r>
              <a:rPr lang="en-US" sz="2200" b="0" strike="noStrike" spc="-26">
                <a:latin typeface="Century Gothic"/>
              </a:rPr>
              <a:t>to </a:t>
            </a:r>
            <a:r>
              <a:rPr lang="en-US" sz="2200" b="0" strike="noStrike" spc="-1">
                <a:latin typeface="Century Gothic"/>
              </a:rPr>
              <a:t>gravity)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acts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vertically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there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are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no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horizontal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forces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on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arch.</a:t>
            </a:r>
            <a:endParaRPr lang="en-IN" sz="2200" b="0" strike="noStrike" spc="-1">
              <a:latin typeface="Arial"/>
            </a:endParaRPr>
          </a:p>
        </p:txBody>
      </p:sp>
      <p:grpSp>
        <p:nvGrpSpPr>
          <p:cNvPr id="148" name="object 4"/>
          <p:cNvGrpSpPr/>
          <p:nvPr/>
        </p:nvGrpSpPr>
        <p:grpSpPr>
          <a:xfrm>
            <a:off x="3550320" y="4889520"/>
            <a:ext cx="4522680" cy="1444680"/>
            <a:chOff x="3550320" y="4889520"/>
            <a:chExt cx="4522680" cy="1444680"/>
          </a:xfrm>
        </p:grpSpPr>
        <p:pic>
          <p:nvPicPr>
            <p:cNvPr id="149" name="object 5"/>
            <p:cNvPicPr/>
            <p:nvPr/>
          </p:nvPicPr>
          <p:blipFill>
            <a:blip r:embed="rId2"/>
            <a:stretch/>
          </p:blipFill>
          <p:spPr>
            <a:xfrm>
              <a:off x="3550320" y="4978800"/>
              <a:ext cx="4522680" cy="1355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0" name="object 6"/>
            <p:cNvSpPr/>
            <p:nvPr/>
          </p:nvSpPr>
          <p:spPr>
            <a:xfrm>
              <a:off x="5820480" y="4889520"/>
              <a:ext cx="75960" cy="1258200"/>
            </a:xfrm>
            <a:custGeom>
              <a:avLst/>
              <a:gdLst/>
              <a:ahLst/>
              <a:cxnLst/>
              <a:rect l="l" t="t" r="r" b="b"/>
              <a:pathLst>
                <a:path w="76200" h="1258570">
                  <a:moveTo>
                    <a:pt x="31741" y="1181887"/>
                  </a:moveTo>
                  <a:lnTo>
                    <a:pt x="0" y="1181887"/>
                  </a:lnTo>
                  <a:lnTo>
                    <a:pt x="38100" y="1258061"/>
                  </a:lnTo>
                  <a:lnTo>
                    <a:pt x="69839" y="1194561"/>
                  </a:lnTo>
                  <a:lnTo>
                    <a:pt x="31750" y="1194561"/>
                  </a:lnTo>
                  <a:lnTo>
                    <a:pt x="31741" y="1181887"/>
                  </a:lnTo>
                  <a:close/>
                </a:path>
                <a:path w="76200" h="1258570">
                  <a:moveTo>
                    <a:pt x="43687" y="0"/>
                  </a:moveTo>
                  <a:lnTo>
                    <a:pt x="30987" y="0"/>
                  </a:lnTo>
                  <a:lnTo>
                    <a:pt x="31741" y="1181887"/>
                  </a:lnTo>
                  <a:lnTo>
                    <a:pt x="31750" y="1194561"/>
                  </a:lnTo>
                  <a:lnTo>
                    <a:pt x="44450" y="1194561"/>
                  </a:lnTo>
                  <a:lnTo>
                    <a:pt x="43687" y="0"/>
                  </a:lnTo>
                  <a:close/>
                </a:path>
                <a:path w="76200" h="1258570">
                  <a:moveTo>
                    <a:pt x="76174" y="1181887"/>
                  </a:moveTo>
                  <a:lnTo>
                    <a:pt x="44441" y="1181887"/>
                  </a:lnTo>
                  <a:lnTo>
                    <a:pt x="44450" y="1194561"/>
                  </a:lnTo>
                  <a:lnTo>
                    <a:pt x="69839" y="1194561"/>
                  </a:lnTo>
                  <a:lnTo>
                    <a:pt x="76174" y="1181887"/>
                  </a:lnTo>
                  <a:close/>
                </a:path>
              </a:pathLst>
            </a:custGeom>
            <a:solidFill>
              <a:srgbClr val="E421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51" name="object 7"/>
          <p:cNvSpPr/>
          <p:nvPr/>
        </p:nvSpPr>
        <p:spPr>
          <a:xfrm>
            <a:off x="5915880" y="5848200"/>
            <a:ext cx="765360" cy="59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1800" b="1" strike="noStrike" spc="-12">
                <a:solidFill>
                  <a:srgbClr val="254061"/>
                </a:solidFill>
                <a:latin typeface="Century Gothic"/>
              </a:rPr>
              <a:t>F</a:t>
            </a:r>
            <a:r>
              <a:rPr lang="en-IN" sz="1800" b="1" strike="noStrike" spc="-12" baseline="-25000">
                <a:solidFill>
                  <a:srgbClr val="254061"/>
                </a:solidFill>
                <a:latin typeface="Century Gothic"/>
              </a:rPr>
              <a:t>y</a:t>
            </a:r>
            <a:r>
              <a:rPr lang="en-IN" sz="1800" b="1" strike="noStrike" spc="-12">
                <a:solidFill>
                  <a:srgbClr val="254061"/>
                </a:solidFill>
                <a:latin typeface="Century Gothic"/>
              </a:rPr>
              <a:t>=mg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F89B3A0-2BFC-437A-A9AF-546613A93B5A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62120" y="1447920"/>
            <a:ext cx="10423800" cy="117360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>
              <a:lnSpc>
                <a:spcPts val="4569"/>
              </a:lnSpc>
              <a:spcBef>
                <a:spcPts val="99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INTRODUCTION</a:t>
            </a:r>
            <a:r>
              <a:rPr lang="en-IN" sz="4000" b="1" strike="noStrike" spc="-4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TO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 MASONRY</a:t>
            </a:r>
            <a:r>
              <a:rPr lang="en-US" sz="4000" b="1" strike="noStrike" spc="-12">
                <a:solidFill>
                  <a:srgbClr val="31859C"/>
                </a:solidFill>
                <a:latin typeface="Century Gothic"/>
              </a:rPr>
              <a:t> ANALYSIS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53" name="object 3"/>
          <p:cNvSpPr/>
          <p:nvPr/>
        </p:nvSpPr>
        <p:spPr>
          <a:xfrm>
            <a:off x="547200" y="2453040"/>
            <a:ext cx="10017360" cy="395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12600">
              <a:lnSpc>
                <a:spcPts val="2381"/>
              </a:lnSpc>
              <a:spcBef>
                <a:spcPts val="394"/>
              </a:spcBef>
              <a:buNone/>
              <a:tabLst>
                <a:tab pos="336600" algn="l"/>
              </a:tabLst>
            </a:pPr>
            <a:r>
              <a:rPr lang="en-IN" sz="2200" b="1" strike="noStrike" spc="-1">
                <a:latin typeface="Century Gothic"/>
              </a:rPr>
              <a:t>Objective:</a:t>
            </a:r>
            <a:r>
              <a:rPr lang="en-IN" sz="2200" b="1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primary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goal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is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to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analyze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predict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optimal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hinge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collapse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factors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arch</a:t>
            </a:r>
            <a:r>
              <a:rPr lang="en-US" sz="2200" b="0" strike="noStrike" spc="-35">
                <a:latin typeface="Century Gothic"/>
              </a:rPr>
              <a:t>es </a:t>
            </a:r>
            <a:r>
              <a:rPr lang="en-US" sz="2200" b="0" strike="noStrike" spc="-1">
                <a:latin typeface="Century Gothic"/>
              </a:rPr>
              <a:t>based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on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architectural parameters.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ts val="2381"/>
              </a:lnSpc>
              <a:spcBef>
                <a:spcPts val="1389"/>
              </a:spcBef>
              <a:buNone/>
              <a:tabLst>
                <a:tab pos="336600" algn="l"/>
              </a:tabLst>
            </a:pPr>
            <a:r>
              <a:rPr lang="en-US" sz="2200" b="1" strike="noStrike" spc="-1">
                <a:latin typeface="Century Gothic"/>
              </a:rPr>
              <a:t>Focus</a:t>
            </a:r>
            <a:r>
              <a:rPr lang="en-US" sz="2200" b="1" strike="noStrike" spc="-35">
                <a:latin typeface="Century Gothic"/>
              </a:rPr>
              <a:t> </a:t>
            </a:r>
            <a:r>
              <a:rPr lang="en-US" sz="2200" b="1" strike="noStrike" spc="-1">
                <a:latin typeface="Century Gothic"/>
              </a:rPr>
              <a:t>Area:</a:t>
            </a:r>
            <a:r>
              <a:rPr lang="en-US" sz="2200" b="1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Given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architectural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inputs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like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span,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thickness,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block </a:t>
            </a:r>
            <a:r>
              <a:rPr lang="en-US" sz="2200" b="0" strike="noStrike" spc="-1">
                <a:latin typeface="Century Gothic"/>
              </a:rPr>
              <a:t>dimensions,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unit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weight,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code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calculates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required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internal </a:t>
            </a:r>
            <a:r>
              <a:rPr lang="en-US" sz="2200" b="0" strike="noStrike" spc="-1">
                <a:latin typeface="Century Gothic"/>
              </a:rPr>
              <a:t>forces</a:t>
            </a:r>
            <a:r>
              <a:rPr lang="en-US" sz="2200" b="0" strike="noStrike" spc="-5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identifies</a:t>
            </a:r>
            <a:r>
              <a:rPr lang="en-US" sz="2200" b="0" strike="noStrike" spc="-60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critical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points</a:t>
            </a:r>
            <a:r>
              <a:rPr lang="en-US" sz="2200" b="0" strike="noStrike" spc="-5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(hinges)</a:t>
            </a:r>
            <a:r>
              <a:rPr lang="en-US" sz="2200" b="0" strike="noStrike" spc="-5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</a:t>
            </a:r>
            <a:r>
              <a:rPr lang="en-US" sz="2200" b="0" strike="noStrike" spc="-5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structural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integrity.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94"/>
              </a:spcBef>
              <a:buNone/>
              <a:tabLst>
                <a:tab pos="335880" algn="l"/>
              </a:tabLst>
            </a:pPr>
            <a:r>
              <a:rPr lang="en-US" sz="2200" b="1" strike="noStrike" spc="-12">
                <a:latin typeface="Century Gothic"/>
              </a:rPr>
              <a:t>Approach: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34"/>
              </a:spcBef>
              <a:buNone/>
              <a:tabLst>
                <a:tab pos="335880" algn="l"/>
              </a:tabLst>
            </a:pPr>
            <a:r>
              <a:rPr lang="en-US" sz="2200" b="0" strike="noStrike" spc="-1">
                <a:latin typeface="Century Gothic"/>
              </a:rPr>
              <a:t>1.</a:t>
            </a:r>
            <a:r>
              <a:rPr lang="en-US" sz="2200" b="0" strike="noStrike" spc="-1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Using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geometry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of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semi-</a:t>
            </a:r>
            <a:r>
              <a:rPr lang="en-US" sz="2200" b="0" strike="noStrike" spc="-1">
                <a:latin typeface="Century Gothic"/>
              </a:rPr>
              <a:t>circular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arch.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34"/>
              </a:spcBef>
              <a:buNone/>
              <a:tabLst>
                <a:tab pos="335880" algn="l"/>
              </a:tabLst>
            </a:pPr>
            <a:r>
              <a:rPr lang="en-US" sz="2200" b="0" strike="noStrike" spc="-1">
                <a:latin typeface="Century Gothic"/>
              </a:rPr>
              <a:t>2.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Calculating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block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centroids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weights.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40"/>
              </a:spcBef>
              <a:buNone/>
              <a:tabLst>
                <a:tab pos="335880" algn="l"/>
              </a:tabLst>
            </a:pPr>
            <a:r>
              <a:rPr lang="en-US" sz="2200" b="0" strike="noStrike" spc="-1">
                <a:latin typeface="Century Gothic"/>
              </a:rPr>
              <a:t>3.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Determining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internal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work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hinge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position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optimization.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F6D36AF-CF49-4883-8A22-DB4101C1B960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257040" y="1146960"/>
            <a:ext cx="11212920" cy="1303920"/>
          </a:xfrm>
          <a:prstGeom prst="rect">
            <a:avLst/>
          </a:prstGeom>
          <a:noFill/>
          <a:ln w="0">
            <a:noFill/>
          </a:ln>
        </p:spPr>
        <p:txBody>
          <a:bodyPr lIns="0" tIns="158760" rIns="0" bIns="0" anchor="t">
            <a:noAutofit/>
          </a:bodyPr>
          <a:lstStyle/>
          <a:p>
            <a:pPr marL="3306600" indent="-2763720">
              <a:lnSpc>
                <a:spcPts val="4320"/>
              </a:lnSpc>
              <a:spcBef>
                <a:spcPts val="646"/>
              </a:spcBef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31859C"/>
                </a:solidFill>
                <a:latin typeface="Century Gothic"/>
              </a:rPr>
              <a:t>CORE</a:t>
            </a:r>
            <a:r>
              <a:rPr lang="en-US" sz="4000" b="1" strike="noStrike" spc="-15">
                <a:solidFill>
                  <a:srgbClr val="31859C"/>
                </a:solidFill>
                <a:latin typeface="Century Gothic"/>
              </a:rPr>
              <a:t> </a:t>
            </a:r>
            <a:r>
              <a:rPr lang="en-US" sz="4000" b="1" strike="noStrike" spc="-12">
                <a:solidFill>
                  <a:srgbClr val="31859C"/>
                </a:solidFill>
                <a:latin typeface="Century Gothic"/>
              </a:rPr>
              <a:t>FUNCTION:MASONRY ANALYSIS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22600" y="1963440"/>
            <a:ext cx="10647360" cy="4028760"/>
          </a:xfrm>
          <a:prstGeom prst="rect">
            <a:avLst/>
          </a:prstGeom>
          <a:noFill/>
          <a:ln w="0">
            <a:noFill/>
          </a:ln>
        </p:spPr>
        <p:txBody>
          <a:bodyPr lIns="0" tIns="141480" rIns="0" bIns="0" anchor="t">
            <a:noAutofit/>
          </a:bodyPr>
          <a:lstStyle/>
          <a:p>
            <a:pPr marL="241200" indent="-228600">
              <a:lnSpc>
                <a:spcPts val="2381"/>
              </a:lnSpc>
              <a:spcBef>
                <a:spcPts val="394"/>
              </a:spcBef>
              <a:buNone/>
              <a:tabLst>
                <a:tab pos="0" algn="l"/>
              </a:tabLst>
            </a:pPr>
            <a:r>
              <a:rPr lang="en-IN" sz="2200" b="1" strike="noStrike" spc="-1">
                <a:solidFill>
                  <a:srgbClr val="000000"/>
                </a:solidFill>
                <a:latin typeface="Century Gothic"/>
              </a:rPr>
              <a:t>Inputs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: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Parameters</a:t>
            </a:r>
            <a:r>
              <a:rPr lang="en-IN" sz="22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like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span,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thickness,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width,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unit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weight,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number</a:t>
            </a:r>
            <a:r>
              <a:rPr lang="en-IN" sz="22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of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blocks,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IN" sz="22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live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load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position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are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extracted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from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input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dataset.</a:t>
            </a:r>
            <a:endParaRPr lang="en-IN" sz="2200" b="0" strike="noStrike" spc="-1">
              <a:latin typeface="Calibri"/>
            </a:endParaRPr>
          </a:p>
          <a:p>
            <a:pPr marL="12600" indent="-22860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en-IN" sz="2200" b="1" strike="noStrike" spc="-1">
                <a:solidFill>
                  <a:srgbClr val="000000"/>
                </a:solidFill>
                <a:latin typeface="Century Gothic"/>
              </a:rPr>
              <a:t>Key</a:t>
            </a:r>
            <a:r>
              <a:rPr lang="en-IN" sz="2200" b="1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1" strike="noStrike" spc="-12">
                <a:solidFill>
                  <a:srgbClr val="000000"/>
                </a:solidFill>
                <a:latin typeface="Century Gothic"/>
              </a:rPr>
              <a:t>Operations</a:t>
            </a:r>
            <a:endParaRPr lang="en-IN" sz="2200" b="0" strike="noStrike" spc="-1">
              <a:latin typeface="Calibri"/>
            </a:endParaRPr>
          </a:p>
          <a:p>
            <a:pPr marL="323280" indent="-228600">
              <a:lnSpc>
                <a:spcPct val="100000"/>
              </a:lnSpc>
              <a:spcBef>
                <a:spcPts val="734"/>
              </a:spcBef>
              <a:buNone/>
              <a:tabLst>
                <a:tab pos="0" algn="l"/>
              </a:tabLst>
            </a:pP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Geometry</a:t>
            </a:r>
            <a:r>
              <a:rPr lang="en-IN" sz="2200" b="0" i="1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Calculation:</a:t>
            </a:r>
            <a:r>
              <a:rPr lang="en-IN" sz="2200" b="0" i="1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Calculating</a:t>
            </a:r>
            <a:r>
              <a:rPr lang="en-IN" sz="22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radii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(ri,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re,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rc)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block</a:t>
            </a:r>
            <a:r>
              <a:rPr lang="en-IN" sz="22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area.</a:t>
            </a:r>
            <a:endParaRPr lang="en-IN" sz="2200" b="0" strike="noStrike" spc="-1">
              <a:latin typeface="Calibri"/>
            </a:endParaRPr>
          </a:p>
          <a:p>
            <a:pPr marL="323280" indent="-228600">
              <a:lnSpc>
                <a:spcPct val="127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Block</a:t>
            </a:r>
            <a:r>
              <a:rPr lang="en-IN" sz="2200" b="0" i="1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Weight:</a:t>
            </a:r>
            <a:r>
              <a:rPr lang="en-IN" sz="2200" b="0" i="1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Weight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of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each</a:t>
            </a:r>
            <a:r>
              <a:rPr lang="en-IN" sz="22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block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calculated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IN" sz="22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width</a:t>
            </a:r>
            <a:r>
              <a:rPr lang="en-IN" sz="22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unit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weight. </a:t>
            </a: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Block</a:t>
            </a:r>
            <a:r>
              <a:rPr lang="en-IN" sz="2200" b="0" i="1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i="1" strike="noStrike" spc="-1">
                <a:solidFill>
                  <a:srgbClr val="000000"/>
                </a:solidFill>
                <a:latin typeface="Century Gothic"/>
              </a:rPr>
              <a:t>Centroids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:</a:t>
            </a:r>
            <a:r>
              <a:rPr lang="en-IN" sz="22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IN" sz="22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polar</a:t>
            </a:r>
            <a:r>
              <a:rPr lang="en-IN" sz="22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coordinates</a:t>
            </a:r>
            <a:r>
              <a:rPr lang="en-IN" sz="22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to</a:t>
            </a:r>
            <a:r>
              <a:rPr lang="en-IN" sz="22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find</a:t>
            </a:r>
            <a:r>
              <a:rPr lang="en-IN" sz="22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centroids</a:t>
            </a:r>
            <a:r>
              <a:rPr lang="en-IN" sz="22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of</a:t>
            </a:r>
            <a:r>
              <a:rPr lang="en-IN" sz="22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">
                <a:solidFill>
                  <a:srgbClr val="000000"/>
                </a:solidFill>
                <a:latin typeface="Century Gothic"/>
              </a:rPr>
              <a:t>each</a:t>
            </a:r>
            <a:r>
              <a:rPr lang="en-IN" sz="22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2200" b="0" strike="noStrike" spc="-12">
                <a:solidFill>
                  <a:srgbClr val="000000"/>
                </a:solidFill>
                <a:latin typeface="Century Gothic"/>
              </a:rPr>
              <a:t>block.</a:t>
            </a:r>
            <a:endParaRPr lang="en-IN" sz="2200" b="0" strike="noStrike" spc="-1">
              <a:latin typeface="Calibri"/>
            </a:endParaRPr>
          </a:p>
        </p:txBody>
      </p:sp>
      <p:pic>
        <p:nvPicPr>
          <p:cNvPr id="156" name="object 4"/>
          <p:cNvPicPr/>
          <p:nvPr/>
        </p:nvPicPr>
        <p:blipFill>
          <a:blip r:embed="rId2"/>
          <a:stretch/>
        </p:blipFill>
        <p:spPr>
          <a:xfrm>
            <a:off x="3590640" y="4860000"/>
            <a:ext cx="4148640" cy="1799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24ECF6B-38EB-4B6D-8ACA-4673B4752D4E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393040" cy="61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000000"/>
                </a:solidFill>
                <a:latin typeface="Century Gothic"/>
              </a:rPr>
              <a:t>DATASET GENERATION:-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64640" y="3581280"/>
            <a:ext cx="10647360" cy="313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IN" sz="1700" b="0" strike="noStrike" spc="-1"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lang="en-IN" sz="1700" b="0" strike="noStrike" spc="-1"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The code generates parameter ranges for analysis or simulation. </a:t>
            </a:r>
            <a:r>
              <a:rPr lang="en-IN" sz="2100" b="0" strike="noStrike" spc="-1">
                <a:solidFill>
                  <a:srgbClr val="000000"/>
                </a:solidFill>
                <a:latin typeface="Century Gothic"/>
              </a:rPr>
              <a:t>s_values</a:t>
            </a: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 (2.00–9.00) may represent size; </a:t>
            </a:r>
            <a:r>
              <a:rPr lang="en-IN" sz="2100" b="0" strike="noStrike" spc="-1">
                <a:solidFill>
                  <a:srgbClr val="000000"/>
                </a:solidFill>
                <a:latin typeface="Century Gothic"/>
              </a:rPr>
              <a:t>t_s_ratios</a:t>
            </a: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(0.080–0.160) are likely thickness-to-span ratios. </a:t>
            </a:r>
            <a:r>
              <a:rPr lang="en-IN" sz="2100" b="0" strike="noStrike" spc="-1">
                <a:solidFill>
                  <a:srgbClr val="000000"/>
                </a:solidFill>
                <a:latin typeface="Century Gothic"/>
              </a:rPr>
              <a:t>d_values</a:t>
            </a: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 include common densities (e.g., 2400, 7850) and a range from 1900 to 2500. </a:t>
            </a:r>
            <a:r>
              <a:rPr lang="en-IN" sz="2100" b="0" strike="noStrike" spc="-1">
                <a:solidFill>
                  <a:srgbClr val="000000"/>
                </a:solidFill>
                <a:latin typeface="Century Gothic"/>
              </a:rPr>
              <a:t>w_values</a:t>
            </a: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 (5.0–8.0) might represent widths or loads, and </a:t>
            </a:r>
            <a:r>
              <a:rPr lang="en-IN" sz="2100" b="0" strike="noStrike" spc="-1">
                <a:solidFill>
                  <a:srgbClr val="000000"/>
                </a:solidFill>
                <a:latin typeface="Century Gothic"/>
              </a:rPr>
              <a:t>n_blocks_values</a:t>
            </a:r>
            <a:r>
              <a:rPr lang="en-IN" sz="2100" b="0" strike="noStrike" spc="-1">
                <a:solidFill>
                  <a:srgbClr val="000000"/>
                </a:solidFill>
                <a:latin typeface="-webkit-standard"/>
              </a:rPr>
              <a:t> (8–60) likely indicate the number of segments or blocks in a system.</a:t>
            </a:r>
            <a:endParaRPr lang="en-IN" sz="2100" b="0" strike="noStrike" spc="-1">
              <a:latin typeface="Calibri"/>
            </a:endParaRPr>
          </a:p>
        </p:txBody>
      </p:sp>
      <p:pic>
        <p:nvPicPr>
          <p:cNvPr id="159" name="Picture 4"/>
          <p:cNvPicPr/>
          <p:nvPr/>
        </p:nvPicPr>
        <p:blipFill>
          <a:blip r:embed="rId2"/>
          <a:stretch/>
        </p:blipFill>
        <p:spPr>
          <a:xfrm>
            <a:off x="1005840" y="1935360"/>
            <a:ext cx="7772040" cy="1466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958CB5-486E-4C94-BBAE-4AC33B69E4DC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33520" y="708480"/>
            <a:ext cx="11124720" cy="1227240"/>
          </a:xfrm>
          <a:prstGeom prst="rect">
            <a:avLst/>
          </a:prstGeom>
          <a:noFill/>
          <a:ln w="0">
            <a:noFill/>
          </a:ln>
        </p:spPr>
        <p:txBody>
          <a:bodyPr lIns="0" tIns="82080" rIns="0" bIns="0" anchor="t">
            <a:noAutofit/>
          </a:bodyPr>
          <a:lstStyle/>
          <a:p>
            <a:pPr marL="260280" indent="-247680">
              <a:lnSpc>
                <a:spcPts val="4320"/>
              </a:lnSpc>
              <a:spcBef>
                <a:spcPts val="646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INTERNAL WORK</a:t>
            </a:r>
            <a:r>
              <a:rPr lang="en-IN" sz="4000" b="1" strike="noStrike" spc="-26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&amp;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HINGE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POSITION</a:t>
            </a:r>
            <a:r>
              <a:rPr lang="en-IN" sz="4000" b="1" strike="noStrike" spc="-66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CALCULATION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78840" y="1909800"/>
            <a:ext cx="10476360" cy="347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241200" indent="-228600">
              <a:lnSpc>
                <a:spcPts val="2381"/>
              </a:lnSpc>
              <a:spcBef>
                <a:spcPts val="394"/>
              </a:spcBef>
              <a:buNone/>
              <a:tabLst>
                <a:tab pos="0" algn="l"/>
              </a:tabLst>
            </a:pPr>
            <a:r>
              <a:rPr lang="en-IN" sz="1200" b="0" strike="noStrike" spc="-1">
                <a:latin typeface="Century Gothic"/>
              </a:rPr>
              <a:t>Work</a:t>
            </a:r>
            <a:r>
              <a:rPr lang="en-IN" sz="1200" b="0" strike="noStrike" spc="-21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Calculation:</a:t>
            </a:r>
            <a:r>
              <a:rPr lang="en-IN" sz="1200" b="0" strike="noStrike" spc="-35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Calculates</a:t>
            </a:r>
            <a:r>
              <a:rPr lang="en-IN" sz="1200" b="0" strike="noStrike" spc="-46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internal</a:t>
            </a:r>
            <a:r>
              <a:rPr lang="en-IN" sz="1200" b="0" strike="noStrike" spc="-41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work</a:t>
            </a:r>
            <a:r>
              <a:rPr lang="en-IN" sz="1200" b="0" strike="noStrike" spc="-35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for</a:t>
            </a:r>
            <a:r>
              <a:rPr lang="en-IN" sz="1200" b="0" strike="noStrike" spc="-26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three</a:t>
            </a:r>
            <a:r>
              <a:rPr lang="en-IN" sz="1200" b="0" strike="noStrike" spc="-41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segments:</a:t>
            </a:r>
            <a:r>
              <a:rPr lang="en-IN" sz="1200" b="0" strike="noStrike" spc="-35">
                <a:latin typeface="Century Gothic"/>
              </a:rPr>
              <a:t> </a:t>
            </a:r>
            <a:r>
              <a:rPr lang="en-IN" sz="1200" b="0" strike="noStrike" spc="-12">
                <a:latin typeface="Century Gothic"/>
              </a:rPr>
              <a:t>A-</a:t>
            </a:r>
            <a:r>
              <a:rPr lang="en-IN" sz="1200" b="0" strike="noStrike" spc="-1">
                <a:latin typeface="Century Gothic"/>
              </a:rPr>
              <a:t>B,</a:t>
            </a:r>
            <a:r>
              <a:rPr lang="en-IN" sz="1200" b="0" strike="noStrike" spc="-26">
                <a:latin typeface="Century Gothic"/>
              </a:rPr>
              <a:t> </a:t>
            </a:r>
            <a:r>
              <a:rPr lang="en-IN" sz="1200" b="0" strike="noStrike" spc="-12">
                <a:latin typeface="Century Gothic"/>
              </a:rPr>
              <a:t>B-</a:t>
            </a:r>
            <a:r>
              <a:rPr lang="en-IN" sz="1200" b="0" strike="noStrike" spc="-1">
                <a:latin typeface="Century Gothic"/>
              </a:rPr>
              <a:t>C,</a:t>
            </a:r>
            <a:r>
              <a:rPr lang="en-IN" sz="1200" b="0" strike="noStrike" spc="-46">
                <a:latin typeface="Century Gothic"/>
              </a:rPr>
              <a:t> </a:t>
            </a:r>
            <a:r>
              <a:rPr lang="en-IN" sz="1200" b="0" strike="noStrike" spc="-26">
                <a:latin typeface="Century Gothic"/>
              </a:rPr>
              <a:t>and </a:t>
            </a:r>
            <a:r>
              <a:rPr lang="en-IN" sz="1200" b="0" strike="noStrike" spc="-12">
                <a:latin typeface="Century Gothic"/>
              </a:rPr>
              <a:t>C-</a:t>
            </a:r>
            <a:r>
              <a:rPr lang="en-IN" sz="1200" b="0" strike="noStrike" spc="-1">
                <a:latin typeface="Century Gothic"/>
              </a:rPr>
              <a:t>D,</a:t>
            </a:r>
            <a:r>
              <a:rPr lang="en-IN" sz="1200" b="0" strike="noStrike" spc="-21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based</a:t>
            </a:r>
            <a:r>
              <a:rPr lang="en-IN" sz="1200" b="0" strike="noStrike" spc="-32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on</a:t>
            </a:r>
            <a:r>
              <a:rPr lang="en-IN" sz="1200" b="0" strike="noStrike" spc="-21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block</a:t>
            </a:r>
            <a:r>
              <a:rPr lang="en-IN" sz="1200" b="0" strike="noStrike" spc="-12">
                <a:latin typeface="Century Gothic"/>
              </a:rPr>
              <a:t> centroids.</a:t>
            </a:r>
            <a:endParaRPr lang="en-IN" sz="1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89"/>
              </a:spcBef>
              <a:buNone/>
              <a:tabLst>
                <a:tab pos="0" algn="l"/>
              </a:tabLst>
            </a:pPr>
            <a:r>
              <a:rPr lang="en-IN" sz="1200" b="0" strike="noStrike" spc="-1">
                <a:latin typeface="Century Gothic"/>
              </a:rPr>
              <a:t>Lambda</a:t>
            </a:r>
            <a:r>
              <a:rPr lang="en-IN" sz="1200" b="0" strike="noStrike" spc="-52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Calculation:</a:t>
            </a:r>
            <a:r>
              <a:rPr lang="en-IN" sz="1200" b="0" strike="noStrike" spc="-55">
                <a:latin typeface="Century Gothic"/>
              </a:rPr>
              <a:t> </a:t>
            </a:r>
            <a:r>
              <a:rPr lang="en-IN" sz="1200" b="0" strike="noStrike" spc="-1">
                <a:latin typeface="Century Gothic"/>
              </a:rPr>
              <a:t>Determines</a:t>
            </a:r>
            <a:r>
              <a:rPr lang="en-IN" sz="1200" b="0" strike="noStrike" spc="-60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λ</a:t>
            </a:r>
            <a:r>
              <a:rPr lang="el-GR" sz="1200" b="0" strike="noStrike" spc="-46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(collapse</a:t>
            </a:r>
            <a:r>
              <a:rPr lang="el-GR" sz="1200" b="0" strike="noStrike" spc="-55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factor)</a:t>
            </a:r>
            <a:r>
              <a:rPr lang="el-GR" sz="1200" b="0" strike="noStrike" spc="-4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for</a:t>
            </a:r>
            <a:r>
              <a:rPr lang="el-GR" sz="1200" b="0" strike="noStrike" spc="-4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different</a:t>
            </a:r>
            <a:r>
              <a:rPr lang="el-GR" sz="1200" b="0" strike="noStrike" spc="-46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hinge </a:t>
            </a:r>
            <a:r>
              <a:rPr lang="el-GR" sz="1200" b="0" strike="noStrike" spc="-1">
                <a:latin typeface="Century Gothic"/>
              </a:rPr>
              <a:t>positions</a:t>
            </a:r>
            <a:r>
              <a:rPr lang="el-GR" sz="1200" b="0" strike="noStrike" spc="-55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and</a:t>
            </a:r>
            <a:r>
              <a:rPr lang="el-GR" sz="1200" b="0" strike="noStrike" spc="-3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selects</a:t>
            </a:r>
            <a:r>
              <a:rPr lang="el-GR" sz="1200" b="0" strike="noStrike" spc="-4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the</a:t>
            </a:r>
            <a:r>
              <a:rPr lang="el-GR" sz="1200" b="0" strike="noStrike" spc="-4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optimal</a:t>
            </a:r>
            <a:r>
              <a:rPr lang="el-GR" sz="1200" b="0" strike="noStrike" spc="-32">
                <a:latin typeface="Century Gothic"/>
              </a:rPr>
              <a:t> </a:t>
            </a:r>
            <a:r>
              <a:rPr lang="el-GR" sz="1200" b="0" strike="noStrike" spc="-21">
                <a:latin typeface="Century Gothic"/>
              </a:rPr>
              <a:t>one.</a:t>
            </a:r>
            <a:endParaRPr lang="en-IN" sz="1200" b="0" strike="noStrike" spc="-1">
              <a:latin typeface="Arial"/>
            </a:endParaRPr>
          </a:p>
          <a:p>
            <a:pPr marL="12600" indent="-2286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l-GR" sz="1200" b="0" strike="noStrike" spc="-1">
                <a:latin typeface="Century Gothic"/>
              </a:rPr>
              <a:t>Core</a:t>
            </a:r>
            <a:r>
              <a:rPr lang="el-GR" sz="1200" b="0" strike="noStrike" spc="-21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Logic:</a:t>
            </a:r>
            <a:endParaRPr lang="en-IN" sz="1200" b="0" strike="noStrike" spc="-1">
              <a:latin typeface="Arial"/>
            </a:endParaRPr>
          </a:p>
          <a:p>
            <a:pPr marL="478080" indent="-310680">
              <a:lnSpc>
                <a:spcPct val="100000"/>
              </a:lnSpc>
              <a:spcBef>
                <a:spcPts val="740"/>
              </a:spcBef>
              <a:buClr>
                <a:srgbClr val="000000"/>
              </a:buClr>
              <a:buFont typeface="StarSymbol"/>
              <a:buAutoNum type="arabicPeriod"/>
              <a:tabLst>
                <a:tab pos="478080" algn="l"/>
              </a:tabLst>
            </a:pPr>
            <a:r>
              <a:rPr lang="el-GR" sz="1200" b="0" strike="noStrike" spc="-1">
                <a:latin typeface="Century Gothic"/>
              </a:rPr>
              <a:t>Iterates</a:t>
            </a:r>
            <a:r>
              <a:rPr lang="el-GR" sz="1200" b="0" strike="noStrike" spc="-5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over</a:t>
            </a:r>
            <a:r>
              <a:rPr lang="el-GR" sz="1200" b="0" strike="noStrike" spc="-3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possible</a:t>
            </a:r>
            <a:r>
              <a:rPr lang="el-GR" sz="1200" b="0" strike="noStrike" spc="-46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hinge</a:t>
            </a:r>
            <a:r>
              <a:rPr lang="el-GR" sz="1200" b="0" strike="noStrike" spc="-35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positions.</a:t>
            </a:r>
            <a:endParaRPr lang="en-IN" sz="1200" b="0" strike="noStrike" spc="-1">
              <a:latin typeface="Arial"/>
            </a:endParaRPr>
          </a:p>
          <a:p>
            <a:pPr marL="478800" indent="-311040">
              <a:lnSpc>
                <a:spcPts val="3379"/>
              </a:lnSpc>
              <a:spcBef>
                <a:spcPts val="224"/>
              </a:spcBef>
              <a:buClr>
                <a:srgbClr val="000000"/>
              </a:buClr>
              <a:buFont typeface="StarSymbol"/>
              <a:buAutoNum type="arabicPeriod"/>
              <a:tabLst>
                <a:tab pos="478800" algn="l"/>
              </a:tabLst>
            </a:pPr>
            <a:r>
              <a:rPr lang="el-GR" sz="1200" b="0" strike="noStrike" spc="-1">
                <a:latin typeface="Century Gothic"/>
              </a:rPr>
              <a:t>Computes</a:t>
            </a:r>
            <a:r>
              <a:rPr lang="el-GR" sz="1200" b="0" strike="noStrike" spc="-5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internal</a:t>
            </a:r>
            <a:r>
              <a:rPr lang="el-GR" sz="1200" b="0" strike="noStrike" spc="-4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work</a:t>
            </a:r>
            <a:r>
              <a:rPr lang="el-GR" sz="1200" b="0" strike="noStrike" spc="-3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and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evaluates </a:t>
            </a:r>
            <a:r>
              <a:rPr lang="el-GR" sz="1200" b="0" strike="noStrike" spc="-1">
                <a:latin typeface="Century Gothic"/>
              </a:rPr>
              <a:t>the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resulting</a:t>
            </a:r>
            <a:r>
              <a:rPr lang="el-GR" sz="1200" b="0" strike="noStrike" spc="-32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lambda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for</a:t>
            </a:r>
            <a:r>
              <a:rPr lang="el-GR" sz="1200" b="0" strike="noStrike" spc="-15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each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confi-</a:t>
            </a:r>
            <a:endParaRPr lang="en-IN" sz="1200" b="0" strike="noStrike" spc="-1">
              <a:latin typeface="Arial"/>
            </a:endParaRPr>
          </a:p>
          <a:p>
            <a:pPr marL="478800">
              <a:lnSpc>
                <a:spcPct val="100000"/>
              </a:lnSpc>
              <a:spcBef>
                <a:spcPts val="499"/>
              </a:spcBef>
              <a:buNone/>
              <a:tabLst>
                <a:tab pos="478800" algn="l"/>
              </a:tabLst>
            </a:pPr>
            <a:r>
              <a:rPr lang="el-GR" sz="1200" b="0" strike="noStrike" spc="-1">
                <a:latin typeface="Century Gothic"/>
              </a:rPr>
              <a:t>-</a:t>
            </a:r>
            <a:r>
              <a:rPr lang="el-GR" sz="1200" b="0" strike="noStrike" spc="-12">
                <a:latin typeface="Century Gothic"/>
              </a:rPr>
              <a:t>guration.</a:t>
            </a:r>
            <a:endParaRPr lang="en-IN" sz="1200" b="0" strike="noStrike" spc="-1">
              <a:latin typeface="Arial"/>
            </a:endParaRPr>
          </a:p>
          <a:p>
            <a:pPr marL="478080" indent="-31068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Font typeface="StarSymbol"/>
              <a:buAutoNum type="arabicPeriod" startAt="3"/>
              <a:tabLst>
                <a:tab pos="478080" algn="l"/>
              </a:tabLst>
            </a:pPr>
            <a:r>
              <a:rPr lang="el-GR" sz="1200" b="0" strike="noStrike" spc="-1">
                <a:latin typeface="Century Gothic"/>
              </a:rPr>
              <a:t>Optimizes</a:t>
            </a:r>
            <a:r>
              <a:rPr lang="el-GR" sz="1200" b="0" strike="noStrike" spc="-35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for</a:t>
            </a:r>
            <a:r>
              <a:rPr lang="el-GR" sz="1200" b="0" strike="noStrike" spc="-21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the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minimum</a:t>
            </a:r>
            <a:r>
              <a:rPr lang="el-GR" sz="1200" b="0" strike="noStrike" spc="-35">
                <a:latin typeface="Century Gothic"/>
              </a:rPr>
              <a:t> </a:t>
            </a:r>
            <a:r>
              <a:rPr lang="el-GR" sz="1200" b="0" strike="noStrike" spc="-1">
                <a:latin typeface="Century Gothic"/>
              </a:rPr>
              <a:t>λ</a:t>
            </a:r>
            <a:r>
              <a:rPr lang="el-GR" sz="1200" b="0" strike="noStrike" spc="-26">
                <a:latin typeface="Century Gothic"/>
              </a:rPr>
              <a:t> </a:t>
            </a:r>
            <a:r>
              <a:rPr lang="el-GR" sz="1200" b="0" strike="noStrike" spc="-12">
                <a:latin typeface="Century Gothic"/>
              </a:rPr>
              <a:t>value.</a:t>
            </a:r>
            <a:endParaRPr lang="en-IN" sz="1200" b="0" strike="noStrike" spc="-1">
              <a:latin typeface="Arial"/>
            </a:endParaRPr>
          </a:p>
          <a:p>
            <a:pPr marL="478080" indent="-310680">
              <a:lnSpc>
                <a:spcPct val="100000"/>
              </a:lnSpc>
              <a:spcBef>
                <a:spcPts val="734"/>
              </a:spcBef>
              <a:buClr>
                <a:srgbClr val="3F3F3F"/>
              </a:buClr>
              <a:buFont typeface="StarSymbol"/>
              <a:buAutoNum type="arabicPeriod" startAt="3"/>
              <a:tabLst>
                <a:tab pos="478080" algn="l"/>
              </a:tabLst>
            </a:pPr>
            <a:r>
              <a:rPr lang="en-IN" sz="1200" b="0" strike="noStrike" spc="-1">
                <a:solidFill>
                  <a:srgbClr val="3F3F3F"/>
                </a:solidFill>
                <a:latin typeface="Arial"/>
              </a:rPr>
              <a:t> Lamda multiplied by g will give the horizontal acceleration required to trigger collapse of arch</a:t>
            </a:r>
            <a:endParaRPr lang="en-IN" sz="1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734"/>
              </a:spcBef>
              <a:buNone/>
              <a:tabLst>
                <a:tab pos="478080" algn="l"/>
              </a:tabLst>
            </a:pPr>
            <a:endParaRPr lang="en-IN" sz="1200" b="0" strike="noStrike" spc="-1">
              <a:latin typeface="Arial"/>
            </a:endParaRPr>
          </a:p>
        </p:txBody>
      </p:sp>
      <p:pic>
        <p:nvPicPr>
          <p:cNvPr id="162" name="object 4"/>
          <p:cNvPicPr/>
          <p:nvPr/>
        </p:nvPicPr>
        <p:blipFill>
          <a:blip r:embed="rId2"/>
          <a:stretch/>
        </p:blipFill>
        <p:spPr>
          <a:xfrm>
            <a:off x="7772400" y="2860560"/>
            <a:ext cx="4114440" cy="3688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0F59DC5-DED2-4A43-8AD8-FA9E864C2D42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17840" y="1069560"/>
            <a:ext cx="10755720" cy="1248480"/>
          </a:xfrm>
          <a:prstGeom prst="rect">
            <a:avLst/>
          </a:prstGeom>
          <a:noFill/>
          <a:ln w="0">
            <a:noFill/>
          </a:ln>
        </p:spPr>
        <p:txBody>
          <a:bodyPr lIns="0" tIns="89640" rIns="0" bIns="0" anchor="t">
            <a:noAutofit/>
          </a:bodyPr>
          <a:lstStyle/>
          <a:p>
            <a:pPr marL="1935360">
              <a:lnSpc>
                <a:spcPts val="4561"/>
              </a:lnSpc>
              <a:spcBef>
                <a:spcPts val="99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RESULT</a:t>
            </a:r>
            <a:r>
              <a:rPr lang="en-IN" sz="4000" b="1" strike="noStrike" spc="-4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PREPARATION</a:t>
            </a:r>
            <a:r>
              <a:rPr lang="en-IN" sz="4000" b="1" strike="noStrike" spc="-5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26">
                <a:solidFill>
                  <a:srgbClr val="31859C"/>
                </a:solidFill>
                <a:latin typeface="Century Gothic"/>
              </a:rPr>
              <a:t>AND</a:t>
            </a:r>
            <a:r>
              <a:rPr lang="en-US" sz="4000" b="1" strike="noStrike" spc="-26">
                <a:solidFill>
                  <a:srgbClr val="31859C"/>
                </a:solidFill>
                <a:latin typeface="Century Gothic"/>
              </a:rPr>
              <a:t> </a:t>
            </a:r>
            <a:r>
              <a:rPr lang="en-US" sz="4000" b="1" strike="noStrike" spc="-12">
                <a:solidFill>
                  <a:srgbClr val="31859C"/>
                </a:solidFill>
                <a:latin typeface="Century Gothic"/>
              </a:rPr>
              <a:t>OUTPUT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64" name="object 3"/>
          <p:cNvSpPr/>
          <p:nvPr/>
        </p:nvSpPr>
        <p:spPr>
          <a:xfrm>
            <a:off x="764640" y="2188080"/>
            <a:ext cx="10308960" cy="30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241200" indent="-228600">
              <a:lnSpc>
                <a:spcPts val="2381"/>
              </a:lnSpc>
              <a:spcBef>
                <a:spcPts val="394"/>
              </a:spcBef>
              <a:buNone/>
              <a:tabLst>
                <a:tab pos="0" algn="l"/>
              </a:tabLst>
            </a:pPr>
            <a:r>
              <a:rPr lang="en-IN" sz="2200" b="0" strike="noStrike" spc="-1">
                <a:latin typeface="Century Gothic"/>
              </a:rPr>
              <a:t>Hinge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Positions: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After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computing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minimum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lambda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value,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best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hinge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5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selected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recorded.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89"/>
              </a:spcBef>
              <a:buNone/>
              <a:tabLst>
                <a:tab pos="0" algn="l"/>
              </a:tabLst>
            </a:pPr>
            <a:r>
              <a:rPr lang="en-IN" sz="2200" b="1" strike="noStrike" spc="-1">
                <a:latin typeface="Century Gothic"/>
              </a:rPr>
              <a:t>Output:</a:t>
            </a:r>
            <a:r>
              <a:rPr lang="en-IN" sz="2200" b="1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Results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include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lambda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value,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hinge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(A,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B,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C,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D),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and </a:t>
            </a:r>
            <a:r>
              <a:rPr lang="en-IN" sz="2200" b="0" strike="noStrike" spc="-1">
                <a:latin typeface="Century Gothic"/>
              </a:rPr>
              <a:t>load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position.</a:t>
            </a:r>
            <a:endParaRPr lang="en-IN" sz="2200" b="0" strike="noStrike" spc="-1">
              <a:latin typeface="Arial"/>
            </a:endParaRPr>
          </a:p>
          <a:p>
            <a:pPr marL="12600" indent="-22860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en-IN" sz="2200" b="1" i="1" strike="noStrike" spc="-1">
                <a:latin typeface="Century Gothic"/>
              </a:rPr>
              <a:t>Example</a:t>
            </a:r>
            <a:r>
              <a:rPr lang="en-IN" sz="2200" b="1" i="1" strike="noStrike" spc="-60">
                <a:latin typeface="Century Gothic"/>
              </a:rPr>
              <a:t> </a:t>
            </a:r>
            <a:r>
              <a:rPr lang="en-IN" sz="2200" b="1" i="1" strike="noStrike" spc="-12">
                <a:latin typeface="Century Gothic"/>
              </a:rPr>
              <a:t>Output:</a:t>
            </a:r>
            <a:endParaRPr lang="en-IN" sz="2200" b="0" strike="noStrike" spc="-1">
              <a:latin typeface="Arial"/>
            </a:endParaRPr>
          </a:p>
          <a:p>
            <a:pPr marL="478080" indent="-310680">
              <a:lnSpc>
                <a:spcPct val="100000"/>
              </a:lnSpc>
              <a:spcBef>
                <a:spcPts val="740"/>
              </a:spcBef>
              <a:buClr>
                <a:srgbClr val="000000"/>
              </a:buClr>
              <a:buFont typeface="StarSymbol"/>
              <a:buAutoNum type="arabicPeriod"/>
              <a:tabLst>
                <a:tab pos="478080" algn="l"/>
              </a:tabLst>
            </a:pPr>
            <a:r>
              <a:rPr lang="el-GR" sz="2200" b="0" strike="noStrike" spc="-1">
                <a:latin typeface="Century Gothic"/>
              </a:rPr>
              <a:t>λ :</a:t>
            </a:r>
            <a:r>
              <a:rPr lang="el-GR" sz="2200" b="0" strike="noStrike" spc="-21">
                <a:latin typeface="Century Gothic"/>
              </a:rPr>
              <a:t> </a:t>
            </a:r>
            <a:r>
              <a:rPr lang="el-GR" sz="2200" b="0" strike="noStrike" spc="-12">
                <a:latin typeface="Century Gothic"/>
              </a:rPr>
              <a:t>0.5274</a:t>
            </a:r>
            <a:endParaRPr lang="en-IN" sz="2200" b="0" strike="noStrike" spc="-1">
              <a:latin typeface="Arial"/>
            </a:endParaRPr>
          </a:p>
          <a:p>
            <a:pPr marL="478080" indent="-31068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Font typeface="StarSymbol"/>
              <a:buAutoNum type="arabicPeriod"/>
              <a:tabLst>
                <a:tab pos="478080" algn="l"/>
              </a:tabLst>
            </a:pPr>
            <a:r>
              <a:rPr lang="el-GR" sz="2200" b="0" strike="noStrike" spc="-1">
                <a:latin typeface="Century Gothic"/>
              </a:rPr>
              <a:t>Hinge</a:t>
            </a:r>
            <a:r>
              <a:rPr lang="el-GR" sz="2200" b="0" strike="noStrike" spc="-32">
                <a:latin typeface="Century Gothic"/>
              </a:rPr>
              <a:t> </a:t>
            </a:r>
            <a:r>
              <a:rPr lang="el-GR" sz="2200" b="0" strike="noStrike" spc="-12">
                <a:latin typeface="Century Gothic"/>
              </a:rPr>
              <a:t>Positions:</a:t>
            </a:r>
            <a:endParaRPr lang="en-IN" sz="2200" b="0" strike="noStrike" spc="-1">
              <a:latin typeface="Arial"/>
            </a:endParaRPr>
          </a:p>
          <a:p>
            <a:pPr marL="788760">
              <a:lnSpc>
                <a:spcPct val="100000"/>
              </a:lnSpc>
              <a:spcBef>
                <a:spcPts val="734"/>
              </a:spcBef>
              <a:buNone/>
              <a:tabLst>
                <a:tab pos="478080" algn="l"/>
              </a:tabLst>
            </a:pPr>
            <a:r>
              <a:rPr lang="el-GR" sz="2200" b="0" strike="noStrike" spc="-1">
                <a:latin typeface="Century Gothic"/>
              </a:rPr>
              <a:t>A:</a:t>
            </a:r>
            <a:r>
              <a:rPr lang="el-GR" sz="2200" b="0" strike="noStrike" spc="-15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1,</a:t>
            </a:r>
            <a:r>
              <a:rPr lang="el-GR" sz="2200" b="0" strike="noStrike" spc="-7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B:</a:t>
            </a:r>
            <a:r>
              <a:rPr lang="el-GR" sz="2200" b="0" strike="noStrike" spc="-15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4,</a:t>
            </a:r>
            <a:r>
              <a:rPr lang="el-GR" sz="2200" b="0" strike="noStrike" spc="-12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C:</a:t>
            </a:r>
            <a:r>
              <a:rPr lang="el-GR" sz="2200" b="0" strike="noStrike" spc="-12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7,</a:t>
            </a:r>
            <a:r>
              <a:rPr lang="el-GR" sz="2200" b="0" strike="noStrike" spc="-7">
                <a:latin typeface="Century Gothic"/>
              </a:rPr>
              <a:t> </a:t>
            </a:r>
            <a:r>
              <a:rPr lang="el-GR" sz="2200" b="0" strike="noStrike" spc="-1">
                <a:latin typeface="Century Gothic"/>
              </a:rPr>
              <a:t>D:</a:t>
            </a:r>
            <a:r>
              <a:rPr lang="el-GR" sz="2200" b="0" strike="noStrike" spc="-15">
                <a:latin typeface="Century Gothic"/>
              </a:rPr>
              <a:t> </a:t>
            </a:r>
            <a:r>
              <a:rPr lang="el-GR" sz="2200" b="0" strike="noStrike" spc="-26">
                <a:latin typeface="Century Gothic"/>
              </a:rPr>
              <a:t>10</a:t>
            </a:r>
            <a:endParaRPr lang="en-IN" sz="2200" b="0" strike="noStrike" spc="-1">
              <a:latin typeface="Arial"/>
            </a:endParaRPr>
          </a:p>
        </p:txBody>
      </p:sp>
      <p:pic>
        <p:nvPicPr>
          <p:cNvPr id="165" name="object 4"/>
          <p:cNvPicPr/>
          <p:nvPr/>
        </p:nvPicPr>
        <p:blipFill>
          <a:blip r:embed="rId2"/>
          <a:stretch/>
        </p:blipFill>
        <p:spPr>
          <a:xfrm>
            <a:off x="5545800" y="3599640"/>
            <a:ext cx="5073840" cy="2339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6B0CD5-2647-4C86-A952-B8263C60A213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393040" cy="61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000000"/>
                </a:solidFill>
                <a:latin typeface="Century Gothic"/>
              </a:rPr>
              <a:t>ARCH POSITION CONSIDERED:-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764640" y="2148840"/>
            <a:ext cx="1024812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600" b="0" strike="noStrike" spc="-1">
              <a:latin typeface="Calibri"/>
            </a:endParaRPr>
          </a:p>
        </p:txBody>
      </p:sp>
      <p:pic>
        <p:nvPicPr>
          <p:cNvPr id="168" name="Picture 2"/>
          <p:cNvPicPr/>
          <p:nvPr/>
        </p:nvPicPr>
        <p:blipFill>
          <a:blip r:embed="rId2"/>
          <a:stretch/>
        </p:blipFill>
        <p:spPr>
          <a:xfrm>
            <a:off x="0" y="1600200"/>
            <a:ext cx="11734560" cy="4863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13F63CD-1535-4F95-8DC9-C3629998089E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766960" y="470520"/>
            <a:ext cx="8393040" cy="150948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5032440" indent="-42228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CODE</a:t>
            </a:r>
            <a:r>
              <a:rPr lang="en-IN" sz="4000" b="1" strike="noStrike" spc="-2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USED</a:t>
            </a:r>
            <a:r>
              <a:rPr lang="en-IN" sz="4000" b="1" strike="noStrike" spc="-26">
                <a:solidFill>
                  <a:srgbClr val="31859C"/>
                </a:solidFill>
                <a:latin typeface="Century Gothic"/>
              </a:rPr>
              <a:t> :-</a:t>
            </a:r>
            <a:endParaRPr lang="en-IN" sz="4000" b="0" strike="noStrike" spc="-1">
              <a:latin typeface="Calibri"/>
            </a:endParaRPr>
          </a:p>
        </p:txBody>
      </p:sp>
      <p:pic>
        <p:nvPicPr>
          <p:cNvPr id="170" name="object 3"/>
          <p:cNvPicPr/>
          <p:nvPr/>
        </p:nvPicPr>
        <p:blipFill>
          <a:blip r:embed="rId2"/>
          <a:stretch/>
        </p:blipFill>
        <p:spPr>
          <a:xfrm>
            <a:off x="2160000" y="1784520"/>
            <a:ext cx="8492760" cy="5055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F61B66-2259-4ADC-A3CC-9EC4187E0C35}" type="slidenum"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8760" y="1209960"/>
            <a:ext cx="10831680" cy="1303920"/>
          </a:xfrm>
          <a:prstGeom prst="rect">
            <a:avLst/>
          </a:prstGeom>
          <a:noFill/>
          <a:ln w="0">
            <a:noFill/>
          </a:ln>
        </p:spPr>
        <p:txBody>
          <a:bodyPr lIns="0" tIns="158760" rIns="0" bIns="0" anchor="t">
            <a:noAutofit/>
          </a:bodyPr>
          <a:lstStyle/>
          <a:p>
            <a:pPr marL="3814920" indent="-3814920">
              <a:lnSpc>
                <a:spcPts val="4320"/>
              </a:lnSpc>
              <a:spcBef>
                <a:spcPts val="646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CODE</a:t>
            </a:r>
            <a:r>
              <a:rPr lang="en-IN" sz="4000" b="1" strike="noStrike" spc="-114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EXPLANATION</a:t>
            </a:r>
            <a:r>
              <a:rPr lang="en-IN" sz="4000" b="1" strike="noStrike" spc="-11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26">
                <a:solidFill>
                  <a:srgbClr val="31859C"/>
                </a:solidFill>
                <a:latin typeface="Century Gothic"/>
              </a:rPr>
              <a:t>AND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APPROACH</a:t>
            </a:r>
            <a:r>
              <a:rPr lang="en-IN" sz="4000" b="1" strike="noStrike" spc="-5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USED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64640" y="2096640"/>
            <a:ext cx="10647360" cy="4112280"/>
          </a:xfrm>
          <a:prstGeom prst="rect">
            <a:avLst/>
          </a:prstGeom>
          <a:noFill/>
          <a:ln w="0">
            <a:noFill/>
          </a:ln>
        </p:spPr>
        <p:txBody>
          <a:bodyPr lIns="0" tIns="111600" rIns="0" bIns="0" anchor="t">
            <a:noAutofit/>
          </a:bodyPr>
          <a:lstStyle/>
          <a:p>
            <a:pPr marL="12600">
              <a:lnSpc>
                <a:spcPct val="100000"/>
              </a:lnSpc>
              <a:spcBef>
                <a:spcPts val="879"/>
              </a:spcBef>
              <a:buNone/>
              <a:tabLst>
                <a:tab pos="240840" algn="l"/>
              </a:tabLst>
            </a:pPr>
            <a:r>
              <a:rPr lang="en-IN" sz="1800" b="1" strike="noStrike" spc="-12">
                <a:solidFill>
                  <a:srgbClr val="000000"/>
                </a:solidFill>
                <a:latin typeface="Century Gothic"/>
              </a:rPr>
              <a:t>Multi-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Output</a:t>
            </a:r>
            <a:r>
              <a:rPr lang="en-IN" sz="1800" b="1" strike="noStrike" spc="-9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Modeling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2">
                <a:solidFill>
                  <a:srgbClr val="000000"/>
                </a:solidFill>
                <a:latin typeface="Century Gothic"/>
              </a:rPr>
              <a:t>Approach</a:t>
            </a:r>
            <a:endParaRPr lang="en-IN" sz="1800" b="0" strike="noStrike" spc="-1">
              <a:latin typeface="Calibri"/>
            </a:endParaRPr>
          </a:p>
          <a:p>
            <a:pPr marL="241200" indent="-228600">
              <a:lnSpc>
                <a:spcPts val="1939"/>
              </a:lnSpc>
              <a:spcBef>
                <a:spcPts val="1026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Instead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of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training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separate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models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for</a:t>
            </a:r>
            <a:r>
              <a:rPr lang="en-IN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each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target,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this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approach</a:t>
            </a:r>
            <a:r>
              <a:rPr lang="en-IN" sz="1800" b="0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uses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IN" sz="1800" b="1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shared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21">
                <a:solidFill>
                  <a:srgbClr val="000000"/>
                </a:solidFill>
                <a:latin typeface="Century Gothic"/>
              </a:rPr>
              <a:t>base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network</a:t>
            </a:r>
            <a:r>
              <a:rPr lang="en-IN" sz="1800" b="1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followed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by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three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separate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heads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for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each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regression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target.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This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has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benefit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of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learning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shared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representations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from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data,</a:t>
            </a:r>
            <a:r>
              <a:rPr lang="en-IN" sz="1800" b="0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which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especially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useful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when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outputs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are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related.</a:t>
            </a:r>
            <a:endParaRPr lang="en-IN" sz="1800" b="0" strike="noStrike" spc="-1"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771"/>
              </a:spcBef>
              <a:buNone/>
              <a:tabLst>
                <a:tab pos="240840" algn="l"/>
              </a:tabLst>
            </a:pP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model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compiled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with:</a:t>
            </a:r>
            <a:endParaRPr lang="en-IN" sz="1800" b="0" strike="noStrike" spc="-1">
              <a:latin typeface="Calibri"/>
            </a:endParaRPr>
          </a:p>
          <a:p>
            <a:pPr marL="895320" indent="-227160">
              <a:lnSpc>
                <a:spcPct val="100000"/>
              </a:lnSpc>
              <a:spcBef>
                <a:spcPts val="791"/>
              </a:spcBef>
              <a:buClr>
                <a:srgbClr val="000000"/>
              </a:buClr>
              <a:buFont typeface="Arial"/>
              <a:buChar char="•"/>
              <a:tabLst>
                <a:tab pos="714240" algn="l"/>
              </a:tabLst>
            </a:pP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Optimizer:</a:t>
            </a:r>
            <a:r>
              <a:rPr lang="en-IN" sz="1800" b="1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'adam'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—</a:t>
            </a:r>
            <a:r>
              <a:rPr lang="en-IN" sz="18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an</a:t>
            </a:r>
            <a:r>
              <a:rPr lang="en-IN" sz="18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adaptive</a:t>
            </a:r>
            <a:r>
              <a:rPr lang="en-IN" sz="18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learning</a:t>
            </a:r>
            <a:r>
              <a:rPr lang="en-IN" sz="18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rate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method.</a:t>
            </a:r>
            <a:endParaRPr lang="en-IN" sz="1800" b="0" strike="noStrike" spc="-1">
              <a:latin typeface="Calibri"/>
            </a:endParaRPr>
          </a:p>
          <a:p>
            <a:pPr marL="895320" indent="-22716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714240" algn="l"/>
              </a:tabLst>
            </a:pP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Loss:</a:t>
            </a:r>
            <a:r>
              <a:rPr lang="en-IN" sz="1800" b="1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'mse'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(Mean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Squared</a:t>
            </a:r>
            <a:r>
              <a:rPr lang="en-IN" sz="18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Error)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—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applied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uniformly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across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all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outputs.</a:t>
            </a:r>
            <a:endParaRPr lang="en-IN" sz="1800" b="0" strike="noStrike" spc="-1">
              <a:latin typeface="Calibri"/>
            </a:endParaRPr>
          </a:p>
          <a:p>
            <a:pPr marL="895320" indent="-227160">
              <a:lnSpc>
                <a:spcPts val="1939"/>
              </a:lnSpc>
              <a:spcBef>
                <a:spcPts val="1035"/>
              </a:spcBef>
              <a:buClr>
                <a:srgbClr val="000000"/>
              </a:buClr>
              <a:buFont typeface="Arial"/>
              <a:buChar char="•"/>
              <a:tabLst>
                <a:tab pos="714240" algn="l"/>
              </a:tabLst>
            </a:pPr>
            <a:r>
              <a:rPr lang="en-IN" sz="1800" b="1" strike="noStrike" spc="-1">
                <a:solidFill>
                  <a:srgbClr val="000000"/>
                </a:solidFill>
                <a:latin typeface="Century Gothic"/>
              </a:rPr>
              <a:t>Metrics:</a:t>
            </a:r>
            <a:r>
              <a:rPr lang="en-IN" sz="18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Different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metrics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for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each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output,</a:t>
            </a:r>
            <a:r>
              <a:rPr lang="en-IN" sz="18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including</a:t>
            </a:r>
            <a:r>
              <a:rPr lang="en-IN" sz="18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MSE,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MAE</a:t>
            </a:r>
            <a:r>
              <a:rPr lang="en-IN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(Mean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Absolute</a:t>
            </a:r>
            <a:r>
              <a:rPr lang="en-IN" sz="18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Error),</a:t>
            </a:r>
            <a:r>
              <a:rPr lang="en-IN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R²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Score.</a:t>
            </a:r>
            <a:r>
              <a:rPr lang="en-IN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These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help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monitor</a:t>
            </a:r>
            <a:r>
              <a:rPr lang="en-IN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model's</a:t>
            </a:r>
            <a:r>
              <a:rPr lang="en-IN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performance</a:t>
            </a:r>
            <a:r>
              <a:rPr lang="en-IN" sz="1800" b="0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from</a:t>
            </a:r>
            <a:r>
              <a:rPr lang="en-IN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multiple</a:t>
            </a:r>
            <a:r>
              <a:rPr lang="en-IN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perspectives: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average</a:t>
            </a:r>
            <a:r>
              <a:rPr lang="en-IN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error,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absolute</a:t>
            </a:r>
            <a:r>
              <a:rPr lang="en-IN" sz="18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error,</a:t>
            </a:r>
            <a:r>
              <a:rPr lang="en-IN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IN" sz="1800" b="0" strike="noStrike" spc="-21">
                <a:solidFill>
                  <a:srgbClr val="000000"/>
                </a:solidFill>
                <a:latin typeface="Century Gothic"/>
              </a:rPr>
              <a:t> goodness-</a:t>
            </a:r>
            <a:r>
              <a:rPr lang="en-IN" sz="1800" b="0" strike="noStrike" spc="-12">
                <a:solidFill>
                  <a:srgbClr val="000000"/>
                </a:solidFill>
                <a:latin typeface="Century Gothic"/>
              </a:rPr>
              <a:t>of-</a:t>
            </a:r>
            <a:r>
              <a:rPr lang="en-IN" sz="1800" b="0" strike="noStrike" spc="-21">
                <a:solidFill>
                  <a:srgbClr val="000000"/>
                </a:solidFill>
                <a:latin typeface="Century Gothic"/>
              </a:rPr>
              <a:t>fit.</a:t>
            </a:r>
            <a:endParaRPr lang="en-IN" sz="1800" b="0" strike="noStrike" spc="-1">
              <a:latin typeface="Calibri"/>
            </a:endParaRPr>
          </a:p>
          <a:p>
            <a:pPr marL="12600">
              <a:lnSpc>
                <a:spcPts val="1939"/>
              </a:lnSpc>
              <a:spcBef>
                <a:spcPts val="1006"/>
              </a:spcBef>
              <a:buNone/>
              <a:tabLst>
                <a:tab pos="2412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	This</a:t>
            </a:r>
            <a:r>
              <a:rPr lang="en-US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setup</a:t>
            </a:r>
            <a:r>
              <a:rPr lang="en-US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US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ideal</a:t>
            </a:r>
            <a:r>
              <a:rPr lang="en-US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for</a:t>
            </a:r>
            <a:r>
              <a:rPr lang="en-US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problems</a:t>
            </a:r>
            <a:r>
              <a:rPr lang="en-US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like</a:t>
            </a:r>
            <a:r>
              <a:rPr lang="en-US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structural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2">
                <a:solidFill>
                  <a:srgbClr val="000000"/>
                </a:solidFill>
                <a:latin typeface="Century Gothic"/>
              </a:rPr>
              <a:t>predictions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or</a:t>
            </a:r>
            <a:r>
              <a:rPr lang="en-US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physical</a:t>
            </a:r>
            <a:r>
              <a:rPr lang="en-US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2">
                <a:solidFill>
                  <a:srgbClr val="000000"/>
                </a:solidFill>
                <a:latin typeface="Century Gothic"/>
              </a:rPr>
              <a:t>simulations</a:t>
            </a:r>
            <a:r>
              <a:rPr lang="en-US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where</a:t>
            </a:r>
            <a:r>
              <a:rPr lang="en-US" sz="18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2">
                <a:solidFill>
                  <a:srgbClr val="000000"/>
                </a:solidFill>
                <a:latin typeface="Century Gothic"/>
              </a:rPr>
              <a:t>multiple interdependent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quantities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need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to</a:t>
            </a:r>
            <a:r>
              <a:rPr lang="en-US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be</a:t>
            </a:r>
            <a:r>
              <a:rPr lang="en-US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estimated</a:t>
            </a:r>
            <a:r>
              <a:rPr lang="en-US" sz="18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from</a:t>
            </a:r>
            <a:r>
              <a:rPr lang="en-US" sz="18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8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same</a:t>
            </a:r>
            <a:r>
              <a:rPr lang="en-US" sz="18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input</a:t>
            </a:r>
            <a:r>
              <a:rPr lang="en-US" sz="18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800" b="0" strike="noStrike" spc="-12">
                <a:solidFill>
                  <a:srgbClr val="000000"/>
                </a:solidFill>
                <a:latin typeface="Century Gothic"/>
              </a:rPr>
              <a:t>features.</a:t>
            </a:r>
            <a:endParaRPr lang="en-IN" sz="18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A3D2562-5D5E-49A0-80A6-567FE7E281C8}" type="slidenum"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066680" y="990720"/>
            <a:ext cx="8393040" cy="1248480"/>
          </a:xfrm>
          <a:prstGeom prst="rect">
            <a:avLst/>
          </a:prstGeom>
          <a:noFill/>
          <a:ln w="0">
            <a:noFill/>
          </a:ln>
        </p:spPr>
        <p:txBody>
          <a:bodyPr lIns="0" tIns="89640" rIns="0" bIns="0" anchor="t">
            <a:noAutofit/>
          </a:bodyPr>
          <a:lstStyle/>
          <a:p>
            <a:pPr algn="r">
              <a:lnSpc>
                <a:spcPts val="4561"/>
              </a:lnSpc>
              <a:spcBef>
                <a:spcPts val="99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CODE</a:t>
            </a:r>
            <a:r>
              <a:rPr lang="en-IN" sz="4000" b="1" strike="noStrike" spc="-4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CONCEPT</a:t>
            </a:r>
            <a:r>
              <a:rPr lang="en-IN" sz="4000" b="1" strike="noStrike" spc="-5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AND</a:t>
            </a:r>
            <a:r>
              <a:rPr lang="en-IN" sz="4000" b="1" strike="noStrike" spc="-35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APPROACH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64640" y="2096640"/>
            <a:ext cx="10647360" cy="4150800"/>
          </a:xfrm>
          <a:prstGeom prst="rect">
            <a:avLst/>
          </a:prstGeom>
          <a:noFill/>
          <a:ln w="0">
            <a:noFill/>
          </a:ln>
        </p:spPr>
        <p:txBody>
          <a:bodyPr lIns="0" tIns="141840" rIns="0" bIns="0" anchor="t">
            <a:noAutofit/>
          </a:bodyPr>
          <a:lstStyle/>
          <a:p>
            <a:pPr marL="241200" indent="-228600">
              <a:lnSpc>
                <a:spcPts val="1840"/>
              </a:lnSpc>
              <a:spcBef>
                <a:spcPts val="326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This</a:t>
            </a:r>
            <a:r>
              <a:rPr lang="en-IN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code</a:t>
            </a:r>
            <a:r>
              <a:rPr lang="en-IN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2">
                <a:solidFill>
                  <a:srgbClr val="000000"/>
                </a:solidFill>
                <a:latin typeface="Century Gothic"/>
              </a:rPr>
              <a:t>implements</a:t>
            </a:r>
            <a:r>
              <a:rPr lang="en-IN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IN" sz="17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1" strike="noStrike" spc="-12">
                <a:solidFill>
                  <a:srgbClr val="000000"/>
                </a:solidFill>
                <a:latin typeface="Century Gothic"/>
              </a:rPr>
              <a:t>multi-</a:t>
            </a:r>
            <a:r>
              <a:rPr lang="en-IN" sz="1700" b="1" strike="noStrike" spc="-1">
                <a:solidFill>
                  <a:srgbClr val="000000"/>
                </a:solidFill>
                <a:latin typeface="Century Gothic"/>
              </a:rPr>
              <a:t>output</a:t>
            </a:r>
            <a:r>
              <a:rPr lang="en-IN" sz="1700" b="1" strike="noStrike" spc="-7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1" strike="noStrike" spc="-1">
                <a:solidFill>
                  <a:srgbClr val="000000"/>
                </a:solidFill>
                <a:latin typeface="Century Gothic"/>
              </a:rPr>
              <a:t>regression</a:t>
            </a:r>
            <a:r>
              <a:rPr lang="en-IN" sz="1700" b="1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1" strike="noStrike" spc="-1">
                <a:solidFill>
                  <a:srgbClr val="000000"/>
                </a:solidFill>
                <a:latin typeface="Century Gothic"/>
              </a:rPr>
              <a:t>model</a:t>
            </a:r>
            <a:r>
              <a:rPr lang="en-IN" sz="1700" b="1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IN" sz="17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IN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2">
                <a:solidFill>
                  <a:srgbClr val="000000"/>
                </a:solidFill>
                <a:latin typeface="Century Gothic"/>
              </a:rPr>
              <a:t>feedforward</a:t>
            </a:r>
            <a:r>
              <a:rPr lang="en-IN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neural</a:t>
            </a:r>
            <a:r>
              <a:rPr lang="en-IN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network</a:t>
            </a:r>
            <a:r>
              <a:rPr lang="en-IN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26">
                <a:solidFill>
                  <a:srgbClr val="000000"/>
                </a:solidFill>
                <a:latin typeface="Century Gothic"/>
              </a:rPr>
              <a:t>in </a:t>
            </a:r>
            <a:r>
              <a:rPr lang="en-IN" sz="1700" b="0" strike="noStrike" spc="-12">
                <a:solidFill>
                  <a:srgbClr val="000000"/>
                </a:solidFill>
                <a:latin typeface="Century Gothic"/>
              </a:rPr>
              <a:t>TensorFlow/Keras</a:t>
            </a:r>
            <a:r>
              <a:rPr lang="en-IN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to</a:t>
            </a:r>
            <a:r>
              <a:rPr lang="en-IN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predict</a:t>
            </a:r>
            <a:r>
              <a:rPr lang="en-IN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three</a:t>
            </a:r>
            <a:r>
              <a:rPr lang="en-IN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2">
                <a:solidFill>
                  <a:srgbClr val="000000"/>
                </a:solidFill>
                <a:latin typeface="Century Gothic"/>
              </a:rPr>
              <a:t>continuous</a:t>
            </a:r>
            <a:r>
              <a:rPr lang="en-IN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targets:</a:t>
            </a:r>
            <a:r>
              <a:rPr lang="en-IN" sz="17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IN" sz="1700" b="0" strike="noStrike" spc="-1">
                <a:solidFill>
                  <a:srgbClr val="000000"/>
                </a:solidFill>
                <a:latin typeface="Century Gothic"/>
              </a:rPr>
              <a:t>Alpha1,</a:t>
            </a:r>
            <a:r>
              <a:rPr lang="en-IN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B,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C.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21">
                <a:solidFill>
                  <a:srgbClr val="000000"/>
                </a:solidFill>
                <a:latin typeface="Century Gothic"/>
              </a:rPr>
              <a:t>core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machine</a:t>
            </a:r>
            <a:r>
              <a:rPr lang="en-US" sz="1700" b="0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learning</a:t>
            </a:r>
            <a:r>
              <a:rPr lang="en-US" sz="1700" b="0" strike="noStrike" spc="-7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pipeline</a:t>
            </a:r>
            <a:r>
              <a:rPr lang="en-US" sz="1700" b="0" strike="noStrike" spc="-7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includes</a:t>
            </a:r>
            <a:r>
              <a:rPr lang="en-US" sz="17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data</a:t>
            </a:r>
            <a:r>
              <a:rPr lang="en-US" sz="17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preprocessing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,</a:t>
            </a:r>
            <a:r>
              <a:rPr lang="en-US" sz="17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model</a:t>
            </a:r>
            <a:r>
              <a:rPr lang="en-US" sz="1700" b="1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building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,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training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,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US" sz="17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2">
                <a:solidFill>
                  <a:srgbClr val="000000"/>
                </a:solidFill>
                <a:latin typeface="Century Gothic"/>
              </a:rPr>
              <a:t>evaluation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.</a:t>
            </a:r>
            <a:endParaRPr lang="en-IN" sz="1700" b="0" strike="noStrike" spc="-1"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760"/>
              </a:spcBef>
              <a:buNone/>
              <a:tabLst>
                <a:tab pos="240840" algn="l"/>
              </a:tabLst>
            </a:pP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Data</a:t>
            </a:r>
            <a:r>
              <a:rPr lang="en-US" sz="1700" b="1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2">
                <a:solidFill>
                  <a:srgbClr val="000000"/>
                </a:solidFill>
                <a:latin typeface="Century Gothic"/>
              </a:rPr>
              <a:t>Preprocessing:</a:t>
            </a:r>
            <a:endParaRPr lang="en-IN" sz="1700" b="0" strike="noStrike" spc="-1">
              <a:latin typeface="Calibri"/>
            </a:endParaRPr>
          </a:p>
          <a:p>
            <a:pPr marL="240840" indent="-227880">
              <a:lnSpc>
                <a:spcPts val="1939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24084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dataset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read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from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CSV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file,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with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missing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values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dropped.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input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features</a:t>
            </a:r>
            <a:endParaRPr lang="en-IN" sz="1700" b="0" strike="noStrike" spc="-1">
              <a:latin typeface="Calibri"/>
            </a:endParaRPr>
          </a:p>
          <a:p>
            <a:pPr marL="241200">
              <a:lnSpc>
                <a:spcPts val="1834"/>
              </a:lnSpc>
              <a:buNone/>
              <a:tabLst>
                <a:tab pos="24084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(n,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Diameter,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Thickness)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output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targets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are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normalized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US" sz="17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StandardScaler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to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improve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model</a:t>
            </a:r>
            <a:endParaRPr lang="en-IN" sz="1700" b="0" strike="noStrike" spc="-1">
              <a:latin typeface="Calibri"/>
            </a:endParaRPr>
          </a:p>
          <a:p>
            <a:pPr marL="241200">
              <a:lnSpc>
                <a:spcPts val="1939"/>
              </a:lnSpc>
              <a:buNone/>
              <a:tabLst>
                <a:tab pos="24084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convergence.</a:t>
            </a:r>
            <a:r>
              <a:rPr lang="en-US" sz="17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data</a:t>
            </a:r>
            <a:r>
              <a:rPr lang="en-US" sz="17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US" sz="17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split</a:t>
            </a:r>
            <a:r>
              <a:rPr lang="en-US" sz="17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into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training,</a:t>
            </a:r>
            <a:r>
              <a:rPr lang="en-US" sz="17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validation,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test</a:t>
            </a:r>
            <a:r>
              <a:rPr lang="en-US" sz="17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sets</a:t>
            </a:r>
            <a:r>
              <a:rPr lang="en-US" sz="1700" b="0" strike="noStrike" spc="-2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in</a:t>
            </a:r>
            <a:r>
              <a:rPr lang="en-US" sz="1700" b="0" strike="noStrike" spc="-1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50:20:30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ratio.</a:t>
            </a:r>
            <a:endParaRPr lang="en-IN" sz="1700" b="0" strike="noStrike" spc="-1"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794"/>
              </a:spcBef>
              <a:buNone/>
              <a:tabLst>
                <a:tab pos="240840" algn="l"/>
              </a:tabLst>
            </a:pP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Model</a:t>
            </a:r>
            <a:r>
              <a:rPr lang="en-US" sz="1700" b="1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2">
                <a:solidFill>
                  <a:srgbClr val="000000"/>
                </a:solidFill>
                <a:latin typeface="Century Gothic"/>
              </a:rPr>
              <a:t>Architecture:</a:t>
            </a:r>
            <a:endParaRPr lang="en-IN" sz="1700" b="0" strike="noStrike" spc="-1">
              <a:latin typeface="Calibri"/>
            </a:endParaRPr>
          </a:p>
          <a:p>
            <a:pPr marL="241200" indent="-228600">
              <a:lnSpc>
                <a:spcPts val="1840"/>
              </a:lnSpc>
              <a:spcBef>
                <a:spcPts val="1026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model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deep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artificial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neural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network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with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five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hidden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layers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(128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→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64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→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64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→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32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→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26">
                <a:solidFill>
                  <a:srgbClr val="000000"/>
                </a:solidFill>
                <a:latin typeface="Century Gothic"/>
              </a:rPr>
              <a:t>16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neurons)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ReLU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activation.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final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layer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has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3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neurons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for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predicting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three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target</a:t>
            </a:r>
            <a:r>
              <a:rPr lang="en-US" sz="1700" b="0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variables simultaneously.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network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is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trained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using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Adam</a:t>
            </a:r>
            <a:r>
              <a:rPr lang="en-US" sz="1700" b="1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optimizer</a:t>
            </a:r>
            <a:r>
              <a:rPr lang="en-US" sz="1700" b="1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and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mean</a:t>
            </a:r>
            <a:r>
              <a:rPr lang="en-US" sz="1700" b="1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squared</a:t>
            </a:r>
            <a:r>
              <a:rPr lang="en-US" sz="1700" b="1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error</a:t>
            </a:r>
            <a:r>
              <a:rPr lang="en-US" sz="1700" b="1" strike="noStrike" spc="-6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(MSE)</a:t>
            </a:r>
            <a:r>
              <a:rPr lang="en-US" sz="1700" b="1" strike="noStrike" spc="-3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26">
                <a:solidFill>
                  <a:srgbClr val="000000"/>
                </a:solidFill>
                <a:latin typeface="Century Gothic"/>
              </a:rPr>
              <a:t>as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the</a:t>
            </a:r>
            <a:r>
              <a:rPr lang="en-US" sz="1700" b="0" strike="noStrike" spc="-6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loss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function,</a:t>
            </a:r>
            <a:r>
              <a:rPr lang="en-US" sz="1700" b="0" strike="noStrike" spc="-4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with</a:t>
            </a:r>
            <a:r>
              <a:rPr lang="en-US" sz="1700" b="0" strike="noStrike" spc="-3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mean</a:t>
            </a:r>
            <a:r>
              <a:rPr lang="en-US" sz="1700" b="1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absolute</a:t>
            </a:r>
            <a:r>
              <a:rPr lang="en-US" sz="1700" b="1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error</a:t>
            </a:r>
            <a:r>
              <a:rPr lang="en-US" sz="1700" b="1" strike="noStrike" spc="-7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1" strike="noStrike" spc="-1">
                <a:solidFill>
                  <a:srgbClr val="000000"/>
                </a:solidFill>
                <a:latin typeface="Century Gothic"/>
              </a:rPr>
              <a:t>(MAE)</a:t>
            </a:r>
            <a:r>
              <a:rPr lang="en-US" sz="1700" b="1" strike="noStrike" spc="-26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as</a:t>
            </a:r>
            <a:r>
              <a:rPr lang="en-US" sz="1700" b="0" strike="noStrike" spc="-52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an</a:t>
            </a:r>
            <a:r>
              <a:rPr lang="en-US" sz="1700" b="0" strike="noStrike" spc="-41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">
                <a:solidFill>
                  <a:srgbClr val="000000"/>
                </a:solidFill>
                <a:latin typeface="Century Gothic"/>
              </a:rPr>
              <a:t>additional</a:t>
            </a:r>
            <a:r>
              <a:rPr lang="en-US" sz="1700" b="0" strike="noStrike" spc="-55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1700" b="0" strike="noStrike" spc="-12">
                <a:solidFill>
                  <a:srgbClr val="000000"/>
                </a:solidFill>
                <a:latin typeface="Century Gothic"/>
              </a:rPr>
              <a:t>metric.</a:t>
            </a:r>
            <a:endParaRPr lang="en-IN" sz="1700" b="0" strike="noStrike" spc="-1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8FC138-22CF-4F6A-9A40-1AF46B58763E}" type="slidenum"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14400" y="1295280"/>
            <a:ext cx="8393040" cy="1248480"/>
          </a:xfrm>
          <a:prstGeom prst="rect">
            <a:avLst/>
          </a:prstGeom>
          <a:noFill/>
          <a:ln w="0">
            <a:noFill/>
          </a:ln>
        </p:spPr>
        <p:txBody>
          <a:bodyPr lIns="0" tIns="89640" rIns="0" bIns="0" anchor="t">
            <a:noAutofit/>
          </a:bodyPr>
          <a:lstStyle/>
          <a:p>
            <a:pPr algn="r">
              <a:lnSpc>
                <a:spcPts val="4561"/>
              </a:lnSpc>
              <a:spcBef>
                <a:spcPts val="99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CODE</a:t>
            </a:r>
            <a:r>
              <a:rPr lang="en-IN" sz="4000" b="1" strike="noStrike" spc="-41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CONCEPT</a:t>
            </a:r>
            <a:r>
              <a:rPr lang="en-IN" sz="4000" b="1" strike="noStrike" spc="-5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AND</a:t>
            </a:r>
            <a:r>
              <a:rPr lang="en-IN" sz="4000" b="1" strike="noStrike" spc="-35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APPROACH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76" name="object 3"/>
          <p:cNvSpPr/>
          <p:nvPr/>
        </p:nvSpPr>
        <p:spPr>
          <a:xfrm>
            <a:off x="764640" y="2095560"/>
            <a:ext cx="10330560" cy="281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54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831"/>
              </a:spcBef>
              <a:buNone/>
              <a:tabLst>
                <a:tab pos="240840" algn="l"/>
              </a:tabLst>
            </a:pPr>
            <a:r>
              <a:rPr lang="en-IN" sz="2200" b="1" strike="noStrike" spc="-1">
                <a:latin typeface="Century Gothic"/>
              </a:rPr>
              <a:t>Training</a:t>
            </a:r>
            <a:r>
              <a:rPr lang="en-IN" sz="2200" b="1" strike="noStrike" spc="-46">
                <a:latin typeface="Century Gothic"/>
              </a:rPr>
              <a:t> </a:t>
            </a:r>
            <a:r>
              <a:rPr lang="en-IN" sz="2200" b="1" strike="noStrike" spc="-1">
                <a:latin typeface="Century Gothic"/>
              </a:rPr>
              <a:t>and</a:t>
            </a:r>
            <a:r>
              <a:rPr lang="en-IN" sz="2200" b="1" strike="noStrike" spc="-21">
                <a:latin typeface="Century Gothic"/>
              </a:rPr>
              <a:t> </a:t>
            </a:r>
            <a:r>
              <a:rPr lang="en-IN" sz="2200" b="1" strike="noStrike" spc="-12">
                <a:latin typeface="Century Gothic"/>
              </a:rPr>
              <a:t>Evaluation: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1029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training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loop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runs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300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epochs,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displaying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metrics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like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MAE,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MSE,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and </a:t>
            </a:r>
            <a:r>
              <a:rPr lang="en-IN" sz="2200" b="0" strike="noStrike" spc="-1">
                <a:latin typeface="Century Gothic"/>
              </a:rPr>
              <a:t>R²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each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target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every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epoch.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After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training,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model's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performance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is </a:t>
            </a:r>
            <a:r>
              <a:rPr lang="en-IN" sz="2200" b="0" strike="noStrike" spc="-1">
                <a:latin typeface="Century Gothic"/>
              </a:rPr>
              <a:t>assessed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on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test</a:t>
            </a:r>
            <a:r>
              <a:rPr lang="en-IN" sz="2200" b="0" strike="noStrike" spc="-7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set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using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same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metrics,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helping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evaluate generalization.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This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approach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is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efficient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related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multi-</a:t>
            </a:r>
            <a:r>
              <a:rPr lang="en-IN" sz="2200" b="0" strike="noStrike" spc="-1">
                <a:latin typeface="Century Gothic"/>
              </a:rPr>
              <a:t>target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regression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tasks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and </a:t>
            </a:r>
            <a:r>
              <a:rPr lang="en-IN" sz="2200" b="0" strike="noStrike" spc="-1">
                <a:latin typeface="Century Gothic"/>
              </a:rPr>
              <a:t>emphasizes</a:t>
            </a:r>
            <a:r>
              <a:rPr lang="en-IN" sz="2200" b="0" strike="noStrike" spc="-7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consistent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scaling,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shared</a:t>
            </a:r>
            <a:r>
              <a:rPr lang="en-IN" sz="2200" b="0" strike="noStrike" spc="-60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representation</a:t>
            </a:r>
            <a:r>
              <a:rPr lang="en-IN" sz="2200" b="0" strike="noStrike" spc="-7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learning,</a:t>
            </a:r>
            <a:r>
              <a:rPr lang="en-IN" sz="2200" b="0" strike="noStrike" spc="-60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and </a:t>
            </a:r>
            <a:r>
              <a:rPr lang="en-IN" sz="2200" b="0" strike="noStrike" spc="-1">
                <a:latin typeface="Century Gothic"/>
              </a:rPr>
              <a:t>interpretability</a:t>
            </a:r>
            <a:r>
              <a:rPr lang="en-IN" sz="2200" b="0" strike="noStrike" spc="-5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via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evaluation</a:t>
            </a:r>
            <a:r>
              <a:rPr lang="en-IN" sz="2200" b="0" strike="noStrike" spc="-5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metrics.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1A4EC2D-6A12-4F69-AD6D-5FC543B9BCE4}" type="slidenum"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048120" y="700200"/>
            <a:ext cx="8393040" cy="158364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144720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FUTURE</a:t>
            </a:r>
            <a:r>
              <a:rPr lang="en-IN" sz="4000" b="1" strike="noStrike" spc="-3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WORK</a:t>
            </a:r>
            <a:r>
              <a:rPr lang="en-IN" sz="4000" b="1" strike="noStrike" spc="-32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AND</a:t>
            </a:r>
            <a:r>
              <a:rPr lang="en-IN" sz="4000" b="1" strike="noStrike" spc="-15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OPTIMIZATION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78" name="object 3"/>
          <p:cNvSpPr/>
          <p:nvPr/>
        </p:nvSpPr>
        <p:spPr>
          <a:xfrm>
            <a:off x="585000" y="2340000"/>
            <a:ext cx="10575000" cy="427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33000"/>
              </a:lnSpc>
              <a:spcBef>
                <a:spcPts val="99"/>
              </a:spcBef>
              <a:buNone/>
            </a:pPr>
            <a:r>
              <a:rPr lang="en-IN" sz="1900" b="1" strike="noStrike" spc="-1">
                <a:latin typeface="Century Gothic"/>
              </a:rPr>
              <a:t>Current</a:t>
            </a:r>
            <a:r>
              <a:rPr lang="en-IN" sz="1900" b="1" strike="noStrike" spc="-55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Approach:</a:t>
            </a:r>
            <a:r>
              <a:rPr lang="en-IN" sz="1900" b="1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The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current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model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identifies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hinge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positions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using</a:t>
            </a:r>
            <a:r>
              <a:rPr lang="en-IN" sz="1900" b="0" strike="noStrike" spc="-7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iterative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methods. </a:t>
            </a:r>
            <a:r>
              <a:rPr lang="en-IN" sz="1900" b="0" strike="noStrike" spc="-1">
                <a:latin typeface="Century Gothic"/>
              </a:rPr>
              <a:t>Next</a:t>
            </a:r>
            <a:r>
              <a:rPr lang="en-IN" sz="1900" b="0" strike="noStrike" spc="-12">
                <a:latin typeface="Century Gothic"/>
              </a:rPr>
              <a:t> Steps:</a:t>
            </a:r>
            <a:endParaRPr lang="en-IN" sz="1900" b="0" strike="noStrike" spc="-1">
              <a:latin typeface="Arial"/>
            </a:endParaRPr>
          </a:p>
          <a:p>
            <a:pPr marL="241200" indent="38160">
              <a:lnSpc>
                <a:spcPts val="2049"/>
              </a:lnSpc>
              <a:spcBef>
                <a:spcPts val="1029"/>
              </a:spcBef>
              <a:buNone/>
              <a:tabLst>
                <a:tab pos="0" algn="l"/>
              </a:tabLst>
            </a:pPr>
            <a:r>
              <a:rPr lang="en-IN" sz="1900" b="1" strike="noStrike" spc="-1">
                <a:latin typeface="Century Gothic"/>
              </a:rPr>
              <a:t>Optimization</a:t>
            </a:r>
            <a:r>
              <a:rPr lang="en-IN" sz="1900" b="1" strike="noStrike" spc="-52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of</a:t>
            </a:r>
            <a:r>
              <a:rPr lang="en-IN" sz="1900" b="1" strike="noStrike" spc="-52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Hinge</a:t>
            </a:r>
            <a:r>
              <a:rPr lang="en-IN" sz="1900" b="1" strike="noStrike" spc="-66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Positions:</a:t>
            </a:r>
            <a:r>
              <a:rPr lang="en-IN" sz="1900" b="1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Transition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to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machine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learning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algorithms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to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predict </a:t>
            </a:r>
            <a:r>
              <a:rPr lang="en-IN" sz="1900" b="0" strike="noStrike" spc="-1">
                <a:latin typeface="Century Gothic"/>
              </a:rPr>
              <a:t>optimal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hinge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configurations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and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collapse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factors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based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on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input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parameters,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removing </a:t>
            </a:r>
            <a:r>
              <a:rPr lang="en-IN" sz="1900" b="0" strike="noStrike" spc="-1">
                <a:latin typeface="Century Gothic"/>
              </a:rPr>
              <a:t>the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need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for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iterative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calculations.</a:t>
            </a:r>
            <a:endParaRPr lang="en-IN" sz="1900" b="0" strike="noStrike" spc="-1">
              <a:latin typeface="Arial"/>
            </a:endParaRPr>
          </a:p>
          <a:p>
            <a:pPr marL="241200" indent="38160">
              <a:lnSpc>
                <a:spcPts val="2049"/>
              </a:lnSpc>
              <a:spcBef>
                <a:spcPts val="1009"/>
              </a:spcBef>
              <a:buNone/>
              <a:tabLst>
                <a:tab pos="0" algn="l"/>
              </a:tabLst>
            </a:pPr>
            <a:r>
              <a:rPr lang="en-IN" sz="1900" b="1" i="1" strike="noStrike" spc="-21">
                <a:latin typeface="Century Gothic"/>
              </a:rPr>
              <a:t>Non-</a:t>
            </a:r>
            <a:r>
              <a:rPr lang="en-IN" sz="1900" b="1" i="1" strike="noStrike" spc="-1">
                <a:latin typeface="Century Gothic"/>
              </a:rPr>
              <a:t>Uniform</a:t>
            </a:r>
            <a:r>
              <a:rPr lang="en-IN" sz="1900" b="1" i="1" strike="noStrike" spc="-35">
                <a:latin typeface="Century Gothic"/>
              </a:rPr>
              <a:t> </a:t>
            </a:r>
            <a:r>
              <a:rPr lang="en-IN" sz="1900" b="1" i="1" strike="noStrike" spc="-1">
                <a:latin typeface="Century Gothic"/>
              </a:rPr>
              <a:t>Thickness:</a:t>
            </a:r>
            <a:r>
              <a:rPr lang="en-IN" sz="1900" b="1" i="1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Expand</a:t>
            </a:r>
            <a:r>
              <a:rPr lang="en-IN" sz="1900" b="0" strike="noStrike" spc="-3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the</a:t>
            </a:r>
            <a:r>
              <a:rPr lang="en-IN" sz="1900" b="0" strike="noStrike" spc="-2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model</a:t>
            </a:r>
            <a:r>
              <a:rPr lang="en-IN" sz="1900" b="0" strike="noStrike" spc="-2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to</a:t>
            </a:r>
            <a:r>
              <a:rPr lang="en-IN" sz="1900" b="0" strike="noStrike" spc="-2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consider</a:t>
            </a:r>
            <a:r>
              <a:rPr lang="en-IN" sz="1900" b="0" strike="noStrike" spc="-32">
                <a:latin typeface="Century Gothic"/>
              </a:rPr>
              <a:t> non-</a:t>
            </a:r>
            <a:r>
              <a:rPr lang="en-IN" sz="1900" b="0" strike="noStrike" spc="-1">
                <a:latin typeface="Century Gothic"/>
              </a:rPr>
              <a:t>uniform</a:t>
            </a:r>
            <a:r>
              <a:rPr lang="en-IN" sz="1900" b="0" strike="noStrike" spc="-3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thickness</a:t>
            </a:r>
            <a:r>
              <a:rPr lang="en-IN" sz="1900" b="0" strike="noStrike" spc="-3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along</a:t>
            </a:r>
            <a:r>
              <a:rPr lang="en-IN" sz="1900" b="0" strike="noStrike" spc="-35">
                <a:latin typeface="Century Gothic"/>
              </a:rPr>
              <a:t> </a:t>
            </a:r>
            <a:r>
              <a:rPr lang="en-IN" sz="1900" b="0" strike="noStrike" spc="-26">
                <a:latin typeface="Century Gothic"/>
              </a:rPr>
              <a:t>the </a:t>
            </a:r>
            <a:r>
              <a:rPr lang="en-IN" sz="1900" b="0" strike="noStrike" spc="-1">
                <a:latin typeface="Century Gothic"/>
              </a:rPr>
              <a:t>arch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span,</a:t>
            </a:r>
            <a:r>
              <a:rPr lang="en-IN" sz="1900" b="0" strike="noStrike" spc="-4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optimizing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the</a:t>
            </a:r>
            <a:r>
              <a:rPr lang="en-IN" sz="1900" b="0" strike="noStrike" spc="-4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structure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for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material</a:t>
            </a:r>
            <a:r>
              <a:rPr lang="en-IN" sz="1900" b="0" strike="noStrike" spc="-4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efficiency</a:t>
            </a:r>
            <a:r>
              <a:rPr lang="en-IN" sz="1900" b="0" strike="noStrike" spc="-7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and</a:t>
            </a:r>
            <a:r>
              <a:rPr lang="en-IN" sz="1900" b="0" strike="noStrike" spc="-46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stability.</a:t>
            </a:r>
            <a:endParaRPr lang="en-IN" sz="1900" b="0" strike="noStrike" spc="-1">
              <a:latin typeface="Arial"/>
            </a:endParaRPr>
          </a:p>
          <a:p>
            <a:pPr marL="241200" indent="38160">
              <a:lnSpc>
                <a:spcPts val="2049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900" b="1" strike="noStrike" spc="-1">
                <a:latin typeface="Century Gothic"/>
              </a:rPr>
              <a:t>Machine</a:t>
            </a:r>
            <a:r>
              <a:rPr lang="en-IN" sz="1900" b="1" strike="noStrike" spc="-92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Learning</a:t>
            </a:r>
            <a:r>
              <a:rPr lang="en-IN" sz="1900" b="1" strike="noStrike" spc="-72">
                <a:latin typeface="Century Gothic"/>
              </a:rPr>
              <a:t> </a:t>
            </a:r>
            <a:r>
              <a:rPr lang="en-IN" sz="1900" b="1" strike="noStrike" spc="-1">
                <a:latin typeface="Century Gothic"/>
              </a:rPr>
              <a:t>Integration:</a:t>
            </a:r>
            <a:r>
              <a:rPr lang="en-IN" sz="1900" b="1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Apply</a:t>
            </a:r>
            <a:r>
              <a:rPr lang="en-IN" sz="1900" b="0" strike="noStrike" spc="-7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optimization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techniques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or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other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ML-</a:t>
            </a:r>
            <a:r>
              <a:rPr lang="en-IN" sz="1900" b="0" strike="noStrike" spc="-12">
                <a:latin typeface="Century Gothic"/>
              </a:rPr>
              <a:t>based </a:t>
            </a:r>
            <a:r>
              <a:rPr lang="en-IN" sz="1900" b="0" strike="noStrike" spc="-1">
                <a:latin typeface="Century Gothic"/>
              </a:rPr>
              <a:t>methods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for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faster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and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more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accurate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predictions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of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structural</a:t>
            </a:r>
            <a:r>
              <a:rPr lang="en-IN" sz="1900" b="0" strike="noStrike" spc="-66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integrity.</a:t>
            </a:r>
            <a:endParaRPr lang="en-IN" sz="1900" b="0" strike="noStrike" spc="-1">
              <a:latin typeface="Arial"/>
            </a:endParaRPr>
          </a:p>
          <a:p>
            <a:pPr marL="241200" indent="38160">
              <a:lnSpc>
                <a:spcPct val="100000"/>
              </a:lnSpc>
              <a:spcBef>
                <a:spcPts val="1729"/>
              </a:spcBef>
              <a:buNone/>
              <a:tabLst>
                <a:tab pos="0" algn="l"/>
              </a:tabLst>
            </a:pPr>
            <a:endParaRPr lang="en-IN" sz="1900" b="0" strike="noStrike" spc="-1">
              <a:latin typeface="Arial"/>
            </a:endParaRPr>
          </a:p>
          <a:p>
            <a:pPr marL="241200" indent="-228600">
              <a:lnSpc>
                <a:spcPts val="2049"/>
              </a:lnSpc>
              <a:buNone/>
              <a:tabLst>
                <a:tab pos="0" algn="l"/>
              </a:tabLst>
            </a:pPr>
            <a:r>
              <a:rPr lang="en-IN" sz="1900" b="0" strike="noStrike" spc="-1">
                <a:latin typeface="Century Gothic"/>
              </a:rPr>
              <a:t>Goal:</a:t>
            </a:r>
            <a:r>
              <a:rPr lang="en-IN" sz="1900" b="0" strike="noStrike" spc="-46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Optimize</a:t>
            </a:r>
            <a:r>
              <a:rPr lang="en-IN" sz="1900" b="0" strike="noStrike" spc="-52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the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arch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design</a:t>
            </a:r>
            <a:r>
              <a:rPr lang="en-IN" sz="1900" b="0" strike="noStrike" spc="-60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for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minimum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thickness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while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maintaining</a:t>
            </a:r>
            <a:r>
              <a:rPr lang="en-IN" sz="1900" b="0" strike="noStrike" spc="-41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stability</a:t>
            </a:r>
            <a:r>
              <a:rPr lang="en-IN" sz="1900" b="0" strike="noStrike" spc="-55">
                <a:latin typeface="Century Gothic"/>
              </a:rPr>
              <a:t> </a:t>
            </a:r>
            <a:r>
              <a:rPr lang="en-IN" sz="1900" b="0" strike="noStrike" spc="-26">
                <a:latin typeface="Century Gothic"/>
              </a:rPr>
              <a:t>and </a:t>
            </a:r>
            <a:r>
              <a:rPr lang="en-IN" sz="1900" b="0" strike="noStrike" spc="-1">
                <a:latin typeface="Century Gothic"/>
              </a:rPr>
              <a:t>performance,</a:t>
            </a:r>
            <a:r>
              <a:rPr lang="en-IN" sz="1900" b="0" strike="noStrike" spc="-75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using</a:t>
            </a:r>
            <a:r>
              <a:rPr lang="en-IN" sz="1900" b="0" strike="noStrike" spc="-97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advanced</a:t>
            </a:r>
            <a:r>
              <a:rPr lang="en-IN" sz="1900" b="0" strike="noStrike" spc="-97">
                <a:latin typeface="Century Gothic"/>
              </a:rPr>
              <a:t> </a:t>
            </a:r>
            <a:r>
              <a:rPr lang="en-IN" sz="1900" b="0" strike="noStrike" spc="-1">
                <a:latin typeface="Century Gothic"/>
              </a:rPr>
              <a:t>optimization</a:t>
            </a:r>
            <a:r>
              <a:rPr lang="en-IN" sz="1900" b="0" strike="noStrike" spc="-72">
                <a:latin typeface="Century Gothic"/>
              </a:rPr>
              <a:t> </a:t>
            </a:r>
            <a:r>
              <a:rPr lang="en-IN" sz="1900" b="0" strike="noStrike" spc="-12">
                <a:latin typeface="Century Gothic"/>
              </a:rPr>
              <a:t>techniques.</a:t>
            </a:r>
            <a:endParaRPr lang="en-IN" sz="19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FD6C96-B7E0-4748-A0A0-530FF672797E}" type="slidenum"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295280" y="914400"/>
            <a:ext cx="8393040" cy="150948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4414680" indent="-441468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FUTURE</a:t>
            </a:r>
            <a:r>
              <a:rPr lang="en-IN" sz="4000" b="1" strike="noStrike" spc="-35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2">
                <a:solidFill>
                  <a:srgbClr val="31859C"/>
                </a:solidFill>
                <a:latin typeface="Century Gothic"/>
              </a:rPr>
              <a:t>WORKS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80" name="object 3"/>
          <p:cNvSpPr/>
          <p:nvPr/>
        </p:nvSpPr>
        <p:spPr>
          <a:xfrm>
            <a:off x="873360" y="2001240"/>
            <a:ext cx="10646640" cy="465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241200" indent="-228600">
              <a:lnSpc>
                <a:spcPts val="2381"/>
              </a:lnSpc>
              <a:spcBef>
                <a:spcPts val="394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We’ve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developed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machine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learning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model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to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predict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relationship </a:t>
            </a:r>
            <a:r>
              <a:rPr lang="en-IN" sz="2200" b="0" strike="noStrike" spc="-1">
                <a:latin typeface="Century Gothic"/>
              </a:rPr>
              <a:t>between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input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parameters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(like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material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properties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load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conditions)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and </a:t>
            </a:r>
            <a:r>
              <a:rPr lang="en-IN" sz="2200" b="0" strike="noStrike" spc="-1">
                <a:latin typeface="Century Gothic"/>
              </a:rPr>
              <a:t>outputs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such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hinge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collapse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factor.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next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step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26">
                <a:latin typeface="Century Gothic"/>
              </a:rPr>
              <a:t>is </a:t>
            </a:r>
            <a:r>
              <a:rPr lang="en-IN" sz="2200" b="1" strike="noStrike" spc="-1">
                <a:latin typeface="Century Gothic"/>
              </a:rPr>
              <a:t>optimization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to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refine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design,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aiming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minimum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thickness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required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safety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while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ensuring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efficiency.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86"/>
              </a:spcBef>
              <a:buNone/>
              <a:tabLst>
                <a:tab pos="240840" algn="l"/>
              </a:tabLst>
            </a:pP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Optimization</a:t>
            </a:r>
            <a:r>
              <a:rPr lang="en-IN" sz="2200" b="1" strike="noStrike" spc="-26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for</a:t>
            </a:r>
            <a:r>
              <a:rPr lang="en-IN" sz="2200" b="1" strike="noStrike" spc="-26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Minimum</a:t>
            </a:r>
            <a:r>
              <a:rPr lang="en-IN" sz="2200" b="1" strike="noStrike" spc="-26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2">
                <a:solidFill>
                  <a:srgbClr val="E46C0A"/>
                </a:solidFill>
                <a:latin typeface="Century Gothic"/>
              </a:rPr>
              <a:t>Thickness: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1029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Currently,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predict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arch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US" sz="2200" b="1" strike="noStrike" spc="-1">
                <a:latin typeface="Century Gothic"/>
              </a:rPr>
              <a:t>failure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using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machine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learning,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but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21">
                <a:latin typeface="Century Gothic"/>
              </a:rPr>
              <a:t>next </a:t>
            </a:r>
            <a:r>
              <a:rPr lang="en-US" sz="2200" b="0" strike="noStrike" spc="-1">
                <a:latin typeface="Century Gothic"/>
              </a:rPr>
              <a:t>goal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is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to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optimize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to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find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minimum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thickness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that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ensures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structural </a:t>
            </a:r>
            <a:r>
              <a:rPr lang="en-US" sz="2200" b="0" strike="noStrike" spc="-1">
                <a:latin typeface="Century Gothic"/>
              </a:rPr>
              <a:t>safety.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This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is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vital</a:t>
            </a:r>
            <a:r>
              <a:rPr lang="en-US" sz="2200" b="0" strike="noStrike" spc="-1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reducing</a:t>
            </a:r>
            <a:r>
              <a:rPr lang="en-US" sz="2200" b="0" strike="noStrike" spc="-5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material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while</a:t>
            </a:r>
            <a:r>
              <a:rPr lang="en-US" sz="2200" b="0" strike="noStrike" spc="-5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maintaining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stability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against </a:t>
            </a:r>
            <a:r>
              <a:rPr lang="en-US" sz="2200" b="0" strike="noStrike" spc="-1">
                <a:latin typeface="Century Gothic"/>
              </a:rPr>
              <a:t>vertical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horizontal</a:t>
            </a:r>
            <a:r>
              <a:rPr lang="en-US" sz="2200" b="0" strike="noStrike" spc="-5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forces,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including</a:t>
            </a:r>
            <a:r>
              <a:rPr lang="en-US" sz="2200" b="0" strike="noStrike" spc="-5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gravity,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external</a:t>
            </a:r>
            <a:r>
              <a:rPr lang="en-US" sz="2200" b="0" strike="noStrike" spc="-5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loads,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and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seismic forces.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US" sz="2200" b="0" strike="noStrike" spc="-1">
                <a:latin typeface="Century Gothic"/>
              </a:rPr>
              <a:t>Future</a:t>
            </a:r>
            <a:r>
              <a:rPr lang="en-US" sz="2200" b="0" strike="noStrike" spc="-3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Approach: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We’ll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use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techniques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like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Gradient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Descent,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Genetic </a:t>
            </a:r>
            <a:r>
              <a:rPr lang="en-US" sz="2200" b="0" strike="noStrike" spc="-1">
                <a:latin typeface="Century Gothic"/>
              </a:rPr>
              <a:t>Algorithms,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or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Particle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Swarm</a:t>
            </a:r>
            <a:r>
              <a:rPr lang="en-US" sz="2200" b="0" strike="noStrike" spc="-35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Optimization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to</a:t>
            </a:r>
            <a:r>
              <a:rPr lang="en-US" sz="2200" b="0" strike="noStrike" spc="-2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iteratively</a:t>
            </a:r>
            <a:r>
              <a:rPr lang="en-US" sz="2200" b="0" strike="noStrike" spc="-46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adjust</a:t>
            </a:r>
            <a:r>
              <a:rPr lang="en-US" sz="2200" b="0" strike="noStrike" spc="-26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parameters, </a:t>
            </a:r>
            <a:r>
              <a:rPr lang="en-US" sz="2200" b="0" strike="noStrike" spc="-1">
                <a:latin typeface="Century Gothic"/>
              </a:rPr>
              <a:t>minimizing</a:t>
            </a:r>
            <a:r>
              <a:rPr lang="en-US" sz="2200" b="0" strike="noStrike" spc="-72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material</a:t>
            </a:r>
            <a:r>
              <a:rPr lang="en-US" sz="2200" b="0" strike="noStrike" spc="-60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usage</a:t>
            </a:r>
            <a:r>
              <a:rPr lang="en-US" sz="2200" b="0" strike="noStrike" spc="-60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without</a:t>
            </a:r>
            <a:r>
              <a:rPr lang="en-US" sz="2200" b="0" strike="noStrike" spc="-41">
                <a:latin typeface="Century Gothic"/>
              </a:rPr>
              <a:t> </a:t>
            </a:r>
            <a:r>
              <a:rPr lang="en-US" sz="2200" b="0" strike="noStrike" spc="-1">
                <a:latin typeface="Century Gothic"/>
              </a:rPr>
              <a:t>compromising</a:t>
            </a:r>
            <a:r>
              <a:rPr lang="en-US" sz="2200" b="0" strike="noStrike" spc="-55">
                <a:latin typeface="Century Gothic"/>
              </a:rPr>
              <a:t> </a:t>
            </a:r>
            <a:r>
              <a:rPr lang="en-US" sz="2200" b="0" strike="noStrike" spc="-12">
                <a:latin typeface="Century Gothic"/>
              </a:rPr>
              <a:t>safety.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6D4ABA3-10DB-4BDE-A22D-3E202B28E561}" type="slidenum"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object 2"/>
          <p:cNvSpPr/>
          <p:nvPr/>
        </p:nvSpPr>
        <p:spPr>
          <a:xfrm>
            <a:off x="836640" y="1206000"/>
            <a:ext cx="10615680" cy="560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62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836"/>
              </a:spcBef>
              <a:buNone/>
              <a:tabLst>
                <a:tab pos="240840" algn="l"/>
              </a:tabLst>
            </a:pP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Optimizing</a:t>
            </a:r>
            <a:r>
              <a:rPr lang="en-IN" sz="2200" b="1" strike="noStrike" spc="-55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Hinges</a:t>
            </a:r>
            <a:r>
              <a:rPr lang="en-IN" sz="2200" b="1" strike="noStrike" spc="-46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and</a:t>
            </a:r>
            <a:r>
              <a:rPr lang="en-IN" sz="2200" b="1" strike="noStrike" spc="-21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Collapse</a:t>
            </a:r>
            <a:r>
              <a:rPr lang="en-IN" sz="2200" b="1" strike="noStrike" spc="-41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2">
                <a:solidFill>
                  <a:srgbClr val="E46C0A"/>
                </a:solidFill>
                <a:latin typeface="Century Gothic"/>
              </a:rPr>
              <a:t>Factor: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103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Right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now,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find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hinge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collapse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factor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using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iterative </a:t>
            </a:r>
            <a:r>
              <a:rPr lang="en-IN" sz="2200" b="0" strike="noStrike" spc="-1">
                <a:latin typeface="Century Gothic"/>
              </a:rPr>
              <a:t>method,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which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can</a:t>
            </a:r>
            <a:r>
              <a:rPr lang="en-IN" sz="2200" b="0" strike="noStrike" spc="-1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be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time-</a:t>
            </a:r>
            <a:r>
              <a:rPr lang="en-IN" sz="2200" b="0" strike="noStrike" spc="-1">
                <a:latin typeface="Century Gothic"/>
              </a:rPr>
              <a:t>consuming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12">
                <a:latin typeface="Century Gothic"/>
              </a:rPr>
              <a:t> inefficient.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99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Future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Approach: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We’ll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optimize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hinge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positions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collapse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factor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directly </a:t>
            </a:r>
            <a:r>
              <a:rPr lang="en-IN" sz="2200" b="0" strike="noStrike" spc="-1">
                <a:latin typeface="Century Gothic"/>
              </a:rPr>
              <a:t>through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machine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learning,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removing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need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for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iterative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trial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and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error.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21">
                <a:latin typeface="Century Gothic"/>
              </a:rPr>
              <a:t>This </a:t>
            </a:r>
            <a:r>
              <a:rPr lang="en-IN" sz="2200" b="0" strike="noStrike" spc="-1">
                <a:latin typeface="Century Gothic"/>
              </a:rPr>
              <a:t>will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ensure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faster,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more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accurate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designs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with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better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performance.</a:t>
            </a:r>
            <a:endParaRPr lang="en-IN" sz="22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89"/>
              </a:spcBef>
              <a:buNone/>
              <a:tabLst>
                <a:tab pos="240840" algn="l"/>
              </a:tabLst>
            </a:pPr>
            <a:r>
              <a:rPr lang="en-IN" sz="2200" b="1" strike="noStrike" spc="-12">
                <a:solidFill>
                  <a:srgbClr val="E46C0A"/>
                </a:solidFill>
                <a:latin typeface="Century Gothic"/>
              </a:rPr>
              <a:t>Non-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Uniform</a:t>
            </a:r>
            <a:r>
              <a:rPr lang="en-IN" sz="2200" b="1" strike="noStrike" spc="-41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">
                <a:solidFill>
                  <a:srgbClr val="E46C0A"/>
                </a:solidFill>
                <a:latin typeface="Century Gothic"/>
              </a:rPr>
              <a:t>Thickness</a:t>
            </a:r>
            <a:r>
              <a:rPr lang="en-IN" sz="2200" b="1" strike="noStrike" spc="-41">
                <a:solidFill>
                  <a:srgbClr val="E46C0A"/>
                </a:solidFill>
                <a:latin typeface="Century Gothic"/>
              </a:rPr>
              <a:t> </a:t>
            </a:r>
            <a:r>
              <a:rPr lang="en-IN" sz="2200" b="1" strike="noStrike" spc="-12">
                <a:solidFill>
                  <a:srgbClr val="E46C0A"/>
                </a:solidFill>
                <a:latin typeface="Century Gothic"/>
              </a:rPr>
              <a:t>Optimization: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ts val="2381"/>
              </a:lnSpc>
              <a:spcBef>
                <a:spcPts val="103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current</a:t>
            </a:r>
            <a:r>
              <a:rPr lang="en-IN" sz="2200" b="0" strike="noStrike" spc="-1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design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assumes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uniform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thickness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throughout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arch,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which </a:t>
            </a:r>
            <a:r>
              <a:rPr lang="en-IN" sz="2200" b="0" strike="noStrike" spc="-1">
                <a:latin typeface="Century Gothic"/>
              </a:rPr>
              <a:t>simplifies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problem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but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may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not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reflect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real-</a:t>
            </a:r>
            <a:r>
              <a:rPr lang="en-IN" sz="2200" b="0" strike="noStrike" spc="-1">
                <a:latin typeface="Century Gothic"/>
              </a:rPr>
              <a:t>world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conditions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where </a:t>
            </a:r>
            <a:r>
              <a:rPr lang="en-IN" sz="2200" b="0" strike="noStrike" spc="-1">
                <a:latin typeface="Century Gothic"/>
              </a:rPr>
              <a:t>thickness</a:t>
            </a:r>
            <a:r>
              <a:rPr lang="en-IN" sz="2200" b="0" strike="noStrike" spc="-60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varies.</a:t>
            </a:r>
            <a:endParaRPr lang="en-IN" sz="2200" b="0" strike="noStrike" spc="-1">
              <a:latin typeface="Arial"/>
            </a:endParaRPr>
          </a:p>
          <a:p>
            <a:pPr marL="241200" indent="-228600">
              <a:lnSpc>
                <a:spcPct val="90000"/>
              </a:lnSpc>
              <a:spcBef>
                <a:spcPts val="95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200" b="0" strike="noStrike" spc="-1">
                <a:latin typeface="Century Gothic"/>
              </a:rPr>
              <a:t>Future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Approach: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will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optimize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non-</a:t>
            </a:r>
            <a:r>
              <a:rPr lang="en-IN" sz="2200" b="0" strike="noStrike" spc="-1">
                <a:latin typeface="Century Gothic"/>
              </a:rPr>
              <a:t>uniform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thickness,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allowing</a:t>
            </a:r>
            <a:r>
              <a:rPr lang="en-IN" sz="2200" b="0" strike="noStrike" spc="-5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21">
                <a:latin typeface="Century Gothic"/>
              </a:rPr>
              <a:t>arch </a:t>
            </a:r>
            <a:r>
              <a:rPr lang="en-IN" sz="2200" b="0" strike="noStrike" spc="-1">
                <a:latin typeface="Century Gothic"/>
              </a:rPr>
              <a:t>to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adjust</a:t>
            </a:r>
            <a:r>
              <a:rPr lang="en-IN" sz="2200" b="0" strike="noStrike" spc="-2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thickness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based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on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load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distribution.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Areas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under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higher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21">
                <a:latin typeface="Century Gothic"/>
              </a:rPr>
              <a:t>load </a:t>
            </a:r>
            <a:r>
              <a:rPr lang="en-IN" sz="2200" b="0" strike="noStrike" spc="-1">
                <a:latin typeface="Century Gothic"/>
              </a:rPr>
              <a:t>will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have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greater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thickness,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while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less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stressed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areas</a:t>
            </a:r>
            <a:r>
              <a:rPr lang="en-IN" sz="2200" b="0" strike="noStrike" spc="-4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will</a:t>
            </a:r>
            <a:r>
              <a:rPr lang="en-IN" sz="2200" b="0" strike="noStrike" spc="-2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be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thinner.</a:t>
            </a:r>
            <a:r>
              <a:rPr lang="en-IN" sz="2200" b="0" strike="noStrike" spc="-3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This</a:t>
            </a:r>
            <a:r>
              <a:rPr lang="en-IN" sz="2200" b="0" strike="noStrike" spc="-32">
                <a:latin typeface="Century Gothic"/>
              </a:rPr>
              <a:t> </a:t>
            </a:r>
            <a:r>
              <a:rPr lang="en-IN" sz="2200" b="0" strike="noStrike" spc="-21">
                <a:latin typeface="Century Gothic"/>
              </a:rPr>
              <a:t>will </a:t>
            </a:r>
            <a:r>
              <a:rPr lang="en-IN" sz="2200" b="0" strike="noStrike" spc="-1">
                <a:latin typeface="Century Gothic"/>
              </a:rPr>
              <a:t>improve</a:t>
            </a:r>
            <a:r>
              <a:rPr lang="en-IN" sz="2200" b="0" strike="noStrike" spc="-55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material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efficiency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while</a:t>
            </a:r>
            <a:r>
              <a:rPr lang="en-IN" sz="2200" b="0" strike="noStrike" spc="-66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maintaining</a:t>
            </a:r>
            <a:r>
              <a:rPr lang="en-IN" sz="2200" b="0" strike="noStrike" spc="-72">
                <a:latin typeface="Century Gothic"/>
              </a:rPr>
              <a:t> </a:t>
            </a:r>
            <a:r>
              <a:rPr lang="en-IN" sz="2200" b="0" strike="noStrike" spc="-1">
                <a:latin typeface="Century Gothic"/>
              </a:rPr>
              <a:t>structural</a:t>
            </a:r>
            <a:r>
              <a:rPr lang="en-IN" sz="2200" b="0" strike="noStrike" spc="-41">
                <a:latin typeface="Century Gothic"/>
              </a:rPr>
              <a:t> </a:t>
            </a:r>
            <a:r>
              <a:rPr lang="en-IN" sz="2200" b="0" strike="noStrike" spc="-12">
                <a:latin typeface="Century Gothic"/>
              </a:rPr>
              <a:t>integrity.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9C610C6-FEC0-47E0-9A9D-4E0DF327DA89}" type="slidenum"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143000" y="892080"/>
            <a:ext cx="8393040" cy="1509480"/>
          </a:xfrm>
          <a:prstGeom prst="rect">
            <a:avLst/>
          </a:prstGeom>
          <a:noFill/>
          <a:ln w="0">
            <a:noFill/>
          </a:ln>
        </p:spPr>
        <p:txBody>
          <a:bodyPr lIns="0" tIns="364320" rIns="0" bIns="0" anchor="t">
            <a:noAutofit/>
          </a:bodyPr>
          <a:lstStyle/>
          <a:p>
            <a:pPr marL="4064040" indent="-406404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KEY</a:t>
            </a:r>
            <a:r>
              <a:rPr lang="en-IN" sz="4000" b="1" strike="noStrike" spc="-15">
                <a:solidFill>
                  <a:srgbClr val="31859C"/>
                </a:solidFill>
                <a:latin typeface="Century Gothic"/>
              </a:rPr>
              <a:t> </a:t>
            </a: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OUTCOMES</a:t>
            </a:r>
            <a:r>
              <a:rPr lang="en-IN" sz="4000" b="1" strike="noStrike" spc="-35">
                <a:solidFill>
                  <a:srgbClr val="31859C"/>
                </a:solidFill>
                <a:latin typeface="Century Gothic"/>
              </a:rPr>
              <a:t> 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764640" y="2196720"/>
            <a:ext cx="10606680" cy="39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3920" rIns="0" bIns="0" anchor="t">
            <a:spAutoFit/>
          </a:bodyPr>
          <a:lstStyle/>
          <a:p>
            <a:pPr marL="241200" indent="-228600">
              <a:lnSpc>
                <a:spcPts val="1939"/>
              </a:lnSpc>
              <a:spcBef>
                <a:spcPts val="346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1" strike="noStrike" spc="-1">
                <a:latin typeface="Century Gothic"/>
              </a:rPr>
              <a:t>Optimization</a:t>
            </a:r>
            <a:r>
              <a:rPr lang="en-IN" sz="1800" b="1" strike="noStrike" spc="-72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Tool:</a:t>
            </a:r>
            <a:r>
              <a:rPr lang="en-IN" sz="1800" b="1" strike="noStrike" spc="-66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Which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gives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optimal</a:t>
            </a:r>
            <a:r>
              <a:rPr lang="en-IN" sz="1800" b="1" strike="noStrike" spc="-55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building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configurations</a:t>
            </a:r>
            <a:r>
              <a:rPr lang="en-IN" sz="1800" b="1" strike="noStrike" spc="-75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when</a:t>
            </a:r>
            <a:r>
              <a:rPr lang="en-IN" sz="1800" b="1" strike="noStrike" spc="-72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given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details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about</a:t>
            </a:r>
            <a:r>
              <a:rPr lang="en-IN" sz="1800" b="1" strike="noStrike" spc="-66">
                <a:latin typeface="Century Gothic"/>
              </a:rPr>
              <a:t> </a:t>
            </a:r>
            <a:r>
              <a:rPr lang="en-IN" sz="1800" b="1" strike="noStrike" spc="-26">
                <a:latin typeface="Century Gothic"/>
              </a:rPr>
              <a:t>the </a:t>
            </a:r>
            <a:r>
              <a:rPr lang="en-IN" sz="1800" b="1" strike="noStrike" spc="-12">
                <a:latin typeface="Century Gothic"/>
              </a:rPr>
              <a:t>construction.</a:t>
            </a:r>
            <a:endParaRPr lang="en-IN" sz="1800" b="0" strike="noStrike" spc="-1">
              <a:latin typeface="Arial"/>
            </a:endParaRPr>
          </a:p>
          <a:p>
            <a:pPr marL="241200" indent="-228600">
              <a:lnSpc>
                <a:spcPts val="1939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1" strike="noStrike" spc="-1">
                <a:latin typeface="Century Gothic"/>
              </a:rPr>
              <a:t>Improved</a:t>
            </a:r>
            <a:r>
              <a:rPr lang="en-IN" sz="1800" b="1" strike="noStrike" spc="-66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Structural</a:t>
            </a:r>
            <a:r>
              <a:rPr lang="en-IN" sz="1800" b="1" strike="noStrike" spc="-60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Efficiency</a:t>
            </a:r>
            <a:r>
              <a:rPr lang="en-IN" sz="1800" b="0" strike="noStrike" spc="-1">
                <a:latin typeface="Century Gothic"/>
              </a:rPr>
              <a:t>: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Optimization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leads</a:t>
            </a:r>
            <a:r>
              <a:rPr lang="en-IN" sz="1800" b="0" strike="noStrike" spc="-3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to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more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efficient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use</a:t>
            </a:r>
            <a:r>
              <a:rPr lang="en-IN" sz="1800" b="0" strike="noStrike" spc="-3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of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materials,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reducing </a:t>
            </a:r>
            <a:r>
              <a:rPr lang="en-IN" sz="1800" b="0" strike="noStrike" spc="-1">
                <a:latin typeface="Century Gothic"/>
              </a:rPr>
              <a:t>construction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costs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and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environmental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impact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while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maintaining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or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improving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structural integrity.</a:t>
            </a:r>
            <a:endParaRPr lang="en-IN" sz="1800" b="0" strike="noStrike" spc="-1">
              <a:latin typeface="Arial"/>
            </a:endParaRPr>
          </a:p>
          <a:p>
            <a:pPr marL="241200" indent="-228600">
              <a:lnSpc>
                <a:spcPts val="1950"/>
              </a:lnSpc>
              <a:spcBef>
                <a:spcPts val="1006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1" strike="noStrike" spc="-1">
                <a:latin typeface="Century Gothic"/>
              </a:rPr>
              <a:t>Enhanced</a:t>
            </a:r>
            <a:r>
              <a:rPr lang="en-IN" sz="1800" b="1" strike="noStrike" spc="-72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Safety</a:t>
            </a:r>
            <a:r>
              <a:rPr lang="en-IN" sz="1800" b="0" strike="noStrike" spc="-1">
                <a:latin typeface="Century Gothic"/>
              </a:rPr>
              <a:t>: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By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predicting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stress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points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and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load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distribution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more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accurately,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26">
                <a:latin typeface="Century Gothic"/>
              </a:rPr>
              <a:t>ML </a:t>
            </a:r>
            <a:r>
              <a:rPr lang="en-IN" sz="1800" b="0" strike="noStrike" spc="-12">
                <a:latin typeface="Century Gothic"/>
              </a:rPr>
              <a:t>optimizes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arch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designs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to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better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handle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extreme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conditions,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reducing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the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risk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of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failure.</a:t>
            </a:r>
            <a:endParaRPr lang="en-IN" sz="1800" b="0" strike="noStrike" spc="-1">
              <a:latin typeface="Arial"/>
            </a:endParaRPr>
          </a:p>
          <a:p>
            <a:pPr marL="241200" indent="-228600">
              <a:lnSpc>
                <a:spcPct val="89000"/>
              </a:lnSpc>
              <a:spcBef>
                <a:spcPts val="969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1" strike="noStrike" spc="-1">
                <a:latin typeface="Century Gothic"/>
              </a:rPr>
              <a:t>Faster</a:t>
            </a:r>
            <a:r>
              <a:rPr lang="en-IN" sz="1800" b="1" strike="noStrike" spc="-66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Design</a:t>
            </a:r>
            <a:r>
              <a:rPr lang="en-IN" sz="1800" b="1" strike="noStrike" spc="-55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Processes</a:t>
            </a:r>
            <a:r>
              <a:rPr lang="en-IN" sz="1800" b="0" strike="noStrike" spc="-1">
                <a:latin typeface="Century Gothic"/>
              </a:rPr>
              <a:t>: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Machine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learning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algorithms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can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rapidly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simulate</a:t>
            </a:r>
            <a:r>
              <a:rPr lang="en-IN" sz="1800" b="0" strike="noStrike" spc="-3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and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test</a:t>
            </a:r>
            <a:r>
              <a:rPr lang="en-IN" sz="1800" b="0" strike="noStrike" spc="-35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thousands </a:t>
            </a:r>
            <a:r>
              <a:rPr lang="en-IN" sz="1800" b="0" strike="noStrike" spc="-1">
                <a:latin typeface="Century Gothic"/>
              </a:rPr>
              <a:t>of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design</a:t>
            </a:r>
            <a:r>
              <a:rPr lang="en-IN" sz="1800" b="0" strike="noStrike" spc="-2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variations,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significantly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speeding</a:t>
            </a:r>
            <a:r>
              <a:rPr lang="en-IN" sz="1800" b="0" strike="noStrike" spc="-2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up</a:t>
            </a:r>
            <a:r>
              <a:rPr lang="en-IN" sz="1800" b="0" strike="noStrike" spc="-3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the</a:t>
            </a:r>
            <a:r>
              <a:rPr lang="en-IN" sz="1800" b="0" strike="noStrike" spc="-3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design</a:t>
            </a:r>
            <a:r>
              <a:rPr lang="en-IN" sz="1800" b="0" strike="noStrike" spc="-2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and</a:t>
            </a:r>
            <a:r>
              <a:rPr lang="en-IN" sz="1800" b="0" strike="noStrike" spc="-35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decision-</a:t>
            </a:r>
            <a:r>
              <a:rPr lang="en-IN" sz="1800" b="0" strike="noStrike" spc="-1">
                <a:latin typeface="Century Gothic"/>
              </a:rPr>
              <a:t>making</a:t>
            </a:r>
            <a:r>
              <a:rPr lang="en-IN" sz="1800" b="0" strike="noStrike" spc="-3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process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26">
                <a:latin typeface="Century Gothic"/>
              </a:rPr>
              <a:t>in </a:t>
            </a:r>
            <a:r>
              <a:rPr lang="en-IN" sz="1800" b="0" strike="noStrike" spc="-1">
                <a:latin typeface="Century Gothic"/>
              </a:rPr>
              <a:t>construction</a:t>
            </a:r>
            <a:r>
              <a:rPr lang="en-IN" sz="1800" b="0" strike="noStrike" spc="-97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projects.</a:t>
            </a:r>
            <a:endParaRPr lang="en-IN" sz="1800" b="0" strike="noStrike" spc="-1">
              <a:latin typeface="Arial"/>
            </a:endParaRPr>
          </a:p>
          <a:p>
            <a:pPr marL="241200" indent="-228600">
              <a:lnSpc>
                <a:spcPts val="1939"/>
              </a:lnSpc>
              <a:spcBef>
                <a:spcPts val="103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1800" b="1" strike="noStrike" spc="-1">
                <a:latin typeface="Century Gothic"/>
              </a:rPr>
              <a:t>Cost</a:t>
            </a:r>
            <a:r>
              <a:rPr lang="en-IN" sz="1800" b="1" strike="noStrike" spc="-72">
                <a:latin typeface="Century Gothic"/>
              </a:rPr>
              <a:t> </a:t>
            </a:r>
            <a:r>
              <a:rPr lang="en-IN" sz="1800" b="1" strike="noStrike" spc="-1">
                <a:latin typeface="Century Gothic"/>
              </a:rPr>
              <a:t>Reduction</a:t>
            </a:r>
            <a:r>
              <a:rPr lang="en-IN" sz="1800" b="0" strike="noStrike" spc="-1">
                <a:latin typeface="Century Gothic"/>
              </a:rPr>
              <a:t>: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Geometry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optimization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through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ML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helps</a:t>
            </a:r>
            <a:r>
              <a:rPr lang="en-IN" sz="1800" b="0" strike="noStrike" spc="-52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identify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the</a:t>
            </a:r>
            <a:r>
              <a:rPr lang="en-IN" sz="1800" b="0" strike="noStrike" spc="-4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most</a:t>
            </a:r>
            <a:r>
              <a:rPr lang="en-IN" sz="1800" b="0" strike="noStrike" spc="-41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cost-effective </a:t>
            </a:r>
            <a:r>
              <a:rPr lang="en-IN" sz="1800" b="0" strike="noStrike" spc="-1">
                <a:latin typeface="Century Gothic"/>
              </a:rPr>
              <a:t>design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and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material</a:t>
            </a:r>
            <a:r>
              <a:rPr lang="en-IN" sz="1800" b="0" strike="noStrike" spc="-7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choices,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leading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to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lower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overall</a:t>
            </a:r>
            <a:r>
              <a:rPr lang="en-IN" sz="1800" b="0" strike="noStrike" spc="-66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expenses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in</a:t>
            </a:r>
            <a:r>
              <a:rPr lang="en-IN" sz="1800" b="0" strike="noStrike" spc="-55">
                <a:latin typeface="Century Gothic"/>
              </a:rPr>
              <a:t> </a:t>
            </a:r>
            <a:r>
              <a:rPr lang="en-IN" sz="1800" b="0" strike="noStrike" spc="-1">
                <a:latin typeface="Century Gothic"/>
              </a:rPr>
              <a:t>construction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26">
                <a:latin typeface="Century Gothic"/>
              </a:rPr>
              <a:t>and </a:t>
            </a:r>
            <a:r>
              <a:rPr lang="en-IN" sz="1800" b="0" strike="noStrike" spc="-1">
                <a:latin typeface="Century Gothic"/>
              </a:rPr>
              <a:t>restoration</a:t>
            </a:r>
            <a:r>
              <a:rPr lang="en-IN" sz="1800" b="0" strike="noStrike" spc="-60">
                <a:latin typeface="Century Gothic"/>
              </a:rPr>
              <a:t> </a:t>
            </a:r>
            <a:r>
              <a:rPr lang="en-IN" sz="1800" b="0" strike="noStrike" spc="-12">
                <a:latin typeface="Century Gothic"/>
              </a:rPr>
              <a:t>projects.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63ACED-DEB9-40E0-A2D9-C2D39BDC51BC}" type="slidenum"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07200" y="1283040"/>
            <a:ext cx="10377360" cy="1234800"/>
          </a:xfrm>
          <a:prstGeom prst="rect">
            <a:avLst/>
          </a:prstGeom>
          <a:noFill/>
          <a:ln w="0">
            <a:noFill/>
          </a:ln>
        </p:spPr>
        <p:txBody>
          <a:bodyPr lIns="0" tIns="89640" rIns="0" bIns="0" anchor="t">
            <a:noAutofit/>
          </a:bodyPr>
          <a:lstStyle/>
          <a:p>
            <a:pPr marL="355680" indent="-268200">
              <a:lnSpc>
                <a:spcPts val="4561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IN" sz="4000" b="1" strike="noStrike" spc="-1">
                <a:solidFill>
                  <a:srgbClr val="31859C"/>
                </a:solidFill>
                <a:latin typeface="Century Gothic"/>
              </a:rPr>
              <a:t>APPLICATIONS</a:t>
            </a:r>
            <a:endParaRPr lang="en-IN" sz="4000" b="0" strike="noStrike" spc="-1">
              <a:latin typeface="Calibri"/>
            </a:endParaRPr>
          </a:p>
        </p:txBody>
      </p:sp>
      <p:sp>
        <p:nvSpPr>
          <p:cNvPr id="185" name="object 3"/>
          <p:cNvSpPr/>
          <p:nvPr/>
        </p:nvSpPr>
        <p:spPr>
          <a:xfrm>
            <a:off x="764640" y="2192040"/>
            <a:ext cx="10377360" cy="398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7160" rIns="0" bIns="0" anchor="t">
            <a:spAutoFit/>
          </a:bodyPr>
          <a:lstStyle/>
          <a:p>
            <a:pPr marL="241200" indent="-228600">
              <a:lnSpc>
                <a:spcPts val="2160"/>
              </a:lnSpc>
              <a:spcBef>
                <a:spcPts val="371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000" b="1" strike="noStrike" spc="-1">
                <a:latin typeface="Century Gothic"/>
              </a:rPr>
              <a:t>Structural</a:t>
            </a:r>
            <a:r>
              <a:rPr lang="en-IN" sz="2000" b="1" strike="noStrike" spc="-60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Design</a:t>
            </a:r>
            <a:r>
              <a:rPr lang="en-IN" sz="2000" b="1" strike="noStrike" spc="-66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Optimization</a:t>
            </a:r>
            <a:r>
              <a:rPr lang="en-IN" sz="2000" b="0" strike="noStrike" spc="-1">
                <a:latin typeface="Century Gothic"/>
              </a:rPr>
              <a:t>: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ML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models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can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optimize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arch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designs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by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predicting </a:t>
            </a:r>
            <a:r>
              <a:rPr lang="en-IN" sz="2000" b="0" strike="noStrike" spc="-1">
                <a:latin typeface="Century Gothic"/>
              </a:rPr>
              <a:t>the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most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efficient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shape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material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distribution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to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minimize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weight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while </a:t>
            </a:r>
            <a:r>
              <a:rPr lang="en-IN" sz="2000" b="0" strike="noStrike" spc="-1">
                <a:latin typeface="Century Gothic"/>
              </a:rPr>
              <a:t>maintaining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strength,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used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in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architecture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civil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engineering.</a:t>
            </a:r>
            <a:endParaRPr lang="en-IN" sz="2000" b="0" strike="noStrike" spc="-1">
              <a:latin typeface="Arial"/>
            </a:endParaRPr>
          </a:p>
          <a:p>
            <a:pPr marL="241200" indent="-228600">
              <a:lnSpc>
                <a:spcPts val="216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000" b="1" strike="noStrike" spc="-1">
                <a:latin typeface="Century Gothic"/>
              </a:rPr>
              <a:t>Construction</a:t>
            </a:r>
            <a:r>
              <a:rPr lang="en-IN" sz="2000" b="1" strike="noStrike" spc="-75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Material</a:t>
            </a:r>
            <a:r>
              <a:rPr lang="en-IN" sz="2000" b="1" strike="noStrike" spc="-72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Selection</a:t>
            </a:r>
            <a:r>
              <a:rPr lang="en-IN" sz="2000" b="0" strike="noStrike" spc="-1">
                <a:latin typeface="Century Gothic"/>
              </a:rPr>
              <a:t>: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Machine</a:t>
            </a:r>
            <a:r>
              <a:rPr lang="en-IN" sz="2000" b="0" strike="noStrike" spc="-4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learning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can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analyze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large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datasets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26">
                <a:latin typeface="Century Gothic"/>
              </a:rPr>
              <a:t>to </a:t>
            </a:r>
            <a:r>
              <a:rPr lang="en-IN" sz="2000" b="0" strike="noStrike" spc="-1">
                <a:latin typeface="Century Gothic"/>
              </a:rPr>
              <a:t>recommend</a:t>
            </a:r>
            <a:r>
              <a:rPr lang="en-IN" sz="2000" b="0" strike="noStrike" spc="-41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the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best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materials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for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arches,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balancing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cost,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sustainability,</a:t>
            </a:r>
            <a:r>
              <a:rPr lang="en-IN" sz="2000" b="0" strike="noStrike" spc="-92">
                <a:latin typeface="Century Gothic"/>
              </a:rPr>
              <a:t> </a:t>
            </a:r>
            <a:r>
              <a:rPr lang="en-IN" sz="2000" b="0" strike="noStrike" spc="-26">
                <a:latin typeface="Century Gothic"/>
              </a:rPr>
              <a:t>and </a:t>
            </a:r>
            <a:r>
              <a:rPr lang="en-IN" sz="2000" b="0" strike="noStrike" spc="-1">
                <a:latin typeface="Century Gothic"/>
              </a:rPr>
              <a:t>durability,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used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in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construction</a:t>
            </a:r>
            <a:r>
              <a:rPr lang="en-IN" sz="2000" b="0" strike="noStrike" spc="-41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projects.</a:t>
            </a:r>
            <a:endParaRPr lang="en-IN" sz="2000" b="0" strike="noStrike" spc="-1">
              <a:latin typeface="Arial"/>
            </a:endParaRPr>
          </a:p>
          <a:p>
            <a:pPr marL="241200" indent="-228600">
              <a:lnSpc>
                <a:spcPct val="89000"/>
              </a:lnSpc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000" b="1" strike="noStrike" spc="-1">
                <a:latin typeface="Century Gothic"/>
              </a:rPr>
              <a:t>Load</a:t>
            </a:r>
            <a:r>
              <a:rPr lang="en-IN" sz="2000" b="1" strike="noStrike" spc="-60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Distribution</a:t>
            </a:r>
            <a:r>
              <a:rPr lang="en-IN" sz="2000" b="1" strike="noStrike" spc="-66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Prediction</a:t>
            </a:r>
            <a:r>
              <a:rPr lang="en-IN" sz="2000" b="0" strike="noStrike" spc="-1">
                <a:latin typeface="Century Gothic"/>
              </a:rPr>
              <a:t>: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ML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algorithms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can</a:t>
            </a:r>
            <a:r>
              <a:rPr lang="en-IN" sz="2000" b="0" strike="noStrike" spc="-4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predict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load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distributions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across </a:t>
            </a:r>
            <a:r>
              <a:rPr lang="en-IN" sz="2000" b="0" strike="noStrike" spc="-1">
                <a:latin typeface="Century Gothic"/>
              </a:rPr>
              <a:t>arches,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helping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engineers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optimize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their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form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structure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to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withstand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specific </a:t>
            </a:r>
            <a:r>
              <a:rPr lang="en-IN" sz="2000" b="0" strike="noStrike" spc="-1">
                <a:latin typeface="Century Gothic"/>
              </a:rPr>
              <a:t>loads,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enhancing</a:t>
            </a:r>
            <a:r>
              <a:rPr lang="en-IN" sz="2000" b="0" strike="noStrike" spc="-41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safety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in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bridges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buildings.</a:t>
            </a:r>
            <a:endParaRPr lang="en-IN" sz="2000" b="0" strike="noStrike" spc="-1">
              <a:latin typeface="Arial"/>
            </a:endParaRPr>
          </a:p>
          <a:p>
            <a:pPr marL="241200" indent="-228600">
              <a:lnSpc>
                <a:spcPts val="2160"/>
              </a:lnSpc>
              <a:spcBef>
                <a:spcPts val="1035"/>
              </a:spcBef>
              <a:buClr>
                <a:srgbClr val="000000"/>
              </a:buClr>
              <a:buFont typeface="Arial"/>
              <a:buChar char="•"/>
              <a:tabLst>
                <a:tab pos="241200" algn="l"/>
              </a:tabLst>
            </a:pPr>
            <a:r>
              <a:rPr lang="en-IN" sz="2000" b="1" strike="noStrike" spc="-1">
                <a:latin typeface="Century Gothic"/>
              </a:rPr>
              <a:t>Historical</a:t>
            </a:r>
            <a:r>
              <a:rPr lang="en-IN" sz="2000" b="1" strike="noStrike" spc="-80">
                <a:latin typeface="Century Gothic"/>
              </a:rPr>
              <a:t> </a:t>
            </a:r>
            <a:r>
              <a:rPr lang="en-IN" sz="2000" b="1" strike="noStrike" spc="-1">
                <a:latin typeface="Century Gothic"/>
              </a:rPr>
              <a:t>Restoration</a:t>
            </a:r>
            <a:r>
              <a:rPr lang="en-IN" sz="2000" b="0" strike="noStrike" spc="-1">
                <a:latin typeface="Century Gothic"/>
              </a:rPr>
              <a:t>:</a:t>
            </a:r>
            <a:r>
              <a:rPr lang="en-IN" sz="2000" b="0" strike="noStrike" spc="-92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ML-</a:t>
            </a:r>
            <a:r>
              <a:rPr lang="en-IN" sz="2000" b="0" strike="noStrike" spc="-1">
                <a:latin typeface="Century Gothic"/>
              </a:rPr>
              <a:t>based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geometry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optimization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can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be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applied</a:t>
            </a:r>
            <a:r>
              <a:rPr lang="en-IN" sz="2000" b="0" strike="noStrike" spc="-6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in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26">
                <a:latin typeface="Century Gothic"/>
              </a:rPr>
              <a:t>the </a:t>
            </a:r>
            <a:r>
              <a:rPr lang="en-IN" sz="2000" b="0" strike="noStrike" spc="-1">
                <a:latin typeface="Century Gothic"/>
              </a:rPr>
              <a:t>restoration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of</a:t>
            </a:r>
            <a:r>
              <a:rPr lang="en-IN" sz="2000" b="0" strike="noStrike" spc="-86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historical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arches,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identifying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the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most</a:t>
            </a:r>
            <a:r>
              <a:rPr lang="en-IN" sz="2000" b="0" strike="noStrike" spc="-7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accurate</a:t>
            </a:r>
            <a:r>
              <a:rPr lang="en-IN" sz="2000" b="0" strike="noStrike" spc="-80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reconstruction </a:t>
            </a:r>
            <a:r>
              <a:rPr lang="en-IN" sz="2000" b="0" strike="noStrike" spc="-1">
                <a:latin typeface="Century Gothic"/>
              </a:rPr>
              <a:t>methods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materials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based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on</a:t>
            </a:r>
            <a:r>
              <a:rPr lang="en-IN" sz="2000" b="0" strike="noStrike" spc="-55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structural</a:t>
            </a:r>
            <a:r>
              <a:rPr lang="en-IN" sz="2000" b="0" strike="noStrike" spc="-72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analysis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and</a:t>
            </a:r>
            <a:r>
              <a:rPr lang="en-IN" sz="2000" b="0" strike="noStrike" spc="-60">
                <a:latin typeface="Century Gothic"/>
              </a:rPr>
              <a:t> </a:t>
            </a:r>
            <a:r>
              <a:rPr lang="en-IN" sz="2000" b="0" strike="noStrike" spc="-1">
                <a:latin typeface="Century Gothic"/>
              </a:rPr>
              <a:t>old</a:t>
            </a:r>
            <a:r>
              <a:rPr lang="en-IN" sz="2000" b="0" strike="noStrike" spc="-52">
                <a:latin typeface="Century Gothic"/>
              </a:rPr>
              <a:t> </a:t>
            </a:r>
            <a:r>
              <a:rPr lang="en-IN" sz="2000" b="0" strike="noStrike" spc="-12">
                <a:latin typeface="Century Gothic"/>
              </a:rPr>
              <a:t>designs.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F3FC043-9F38-447D-AC3C-FF53AADA085C}" type="slidenum"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"/>
          <p:cNvSpPr/>
          <p:nvPr/>
        </p:nvSpPr>
        <p:spPr>
          <a:xfrm>
            <a:off x="764640" y="2011320"/>
            <a:ext cx="9502920" cy="366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960">
              <a:lnSpc>
                <a:spcPct val="100000"/>
              </a:lnSpc>
              <a:spcBef>
                <a:spcPts val="99"/>
              </a:spcBef>
              <a:buNone/>
              <a:tabLst>
                <a:tab pos="545400" algn="l"/>
              </a:tabLst>
            </a:pPr>
            <a:r>
              <a:rPr lang="en-IN" sz="12000" b="1" strike="noStrike" spc="-1">
                <a:solidFill>
                  <a:srgbClr val="77933C"/>
                </a:solidFill>
                <a:latin typeface="Century Gothic"/>
              </a:rPr>
              <a:t>THANK </a:t>
            </a:r>
            <a:r>
              <a:rPr lang="en-IN" sz="12000" b="1" strike="noStrike" spc="-21">
                <a:solidFill>
                  <a:srgbClr val="77933C"/>
                </a:solidFill>
                <a:latin typeface="Century Gothic"/>
              </a:rPr>
              <a:t>YOU!</a:t>
            </a:r>
            <a:endParaRPr lang="en-IN" sz="12000" b="0" strike="noStrike" spc="-1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B2171C7-1561-4974-BEE7-42051D1EDC1A}" type="slidenum"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1981</Words>
  <Application>Microsoft Office PowerPoint</Application>
  <PresentationFormat>Widescreen</PresentationFormat>
  <Paragraphs>145</Paragraphs>
  <Slides>23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Office Theme</vt:lpstr>
      <vt:lpstr>Office Theme</vt:lpstr>
      <vt:lpstr>Office Theme</vt:lpstr>
      <vt:lpstr>BTECH PROJECT  GEOMETRY OPTIMIZATION USING ML TECHNIQUES</vt:lpstr>
      <vt:lpstr>PRIMARY OBJECTIVES</vt:lpstr>
      <vt:lpstr>SECONDARY OBJECTIVES</vt:lpstr>
      <vt:lpstr>TYPES OF STANDARD ARCHES  </vt:lpstr>
      <vt:lpstr>CASE 1 DETAILS</vt:lpstr>
      <vt:lpstr>CASE 2 DETAILS</vt:lpstr>
      <vt:lpstr>METHODOLOGY TO BE USED:-</vt:lpstr>
      <vt:lpstr>INTRODUCTION TO MASONRY ANALYSIS</vt:lpstr>
      <vt:lpstr>CORE FUNCTION:MASONRY ANALYSIS</vt:lpstr>
      <vt:lpstr>DATASET GENERATION:-</vt:lpstr>
      <vt:lpstr>INTERNAL WORK &amp; HINGE POSITION CALCULATION</vt:lpstr>
      <vt:lpstr>RESULT PREPARATION AND OUTPUT</vt:lpstr>
      <vt:lpstr>ARCH POSITION CONSIDERED:-</vt:lpstr>
      <vt:lpstr>CODE USED :-</vt:lpstr>
      <vt:lpstr>CODE EXPLANATION AND APPROACH USED</vt:lpstr>
      <vt:lpstr>CODE CONCEPT AND APPROACH</vt:lpstr>
      <vt:lpstr>CODE CONCEPT AND APPROACH</vt:lpstr>
      <vt:lpstr>FUTURE WORK AND OPTIMIZATION</vt:lpstr>
      <vt:lpstr>FUTURE WORKS</vt:lpstr>
      <vt:lpstr>PowerPoint Presentation</vt:lpstr>
      <vt:lpstr>KEY OUTCOMES 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Manas Sachin Deshmukh</dc:creator>
  <dc:description/>
  <cp:lastModifiedBy/>
  <cp:revision>52</cp:revision>
  <dcterms:created xsi:type="dcterms:W3CDTF">2025-05-04T06:29:20Z</dcterms:created>
  <dcterms:modified xsi:type="dcterms:W3CDTF">2025-05-04T15:40:32Z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2025-05-04T00:00:00Z</vt:filetime>
  </property>
  <property fmtid="{D5CDD505-2E9C-101B-9397-08002B2CF9AE}" pid="5" name="PresentationFormat">
    <vt:lpwstr>Widescreen</vt:lpwstr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Slides">
    <vt:i4>23</vt:i4>
  </property>
</Properties>
</file>